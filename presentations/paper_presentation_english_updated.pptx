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85" r:id="rId43"/>
    <p:sldId id="286" r:id="rId44"/>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9" r:id="rId22"/>
    <p:sldId id="280" r:id="rId23"/>
    <p:sldId id="281" r:id="rId24"/>
    <p:sldId id="282" r:id="rId25"/>
    <p:sldId id="283" r:id="rId26"/>
    <p:sldId id="284" r:id="rId27"/>
  </p:sldIdLst>
  <p:sldSz cx="9753600" cy="7315200"/>
  <p:notesSz cx="6858000" cy="9144000"/>
  <p:embeddedFontLst>
    <p:embeddedFont>
      <p:font typeface="Arial Bold" panose="020B0704020202020204" pitchFamily="34" charset="0"/>
      <p:regular r:id="rId29"/>
      <p:bold r:id="rId30"/>
    </p:embeddedFont>
    <p:embeddedFont>
      <p:font typeface="Arial" panose="020B0604020202020204" pitchFamily="34" charset="0"/>
      <p:regular r:id="rId31"/>
    </p:embeddedFont>
    <p:embeddedFont>
      <p:font typeface="TT Rounds Condensed" panose="020B0604020202020204" charset="0"/>
      <p:regular r:id="rId32"/>
    </p:embeddedFont>
    <p:embeddedFont>
      <p:font typeface="Arial Italics" panose="020B0604020202020204" charset="0"/>
      <p:regular r:id="rId33"/>
    </p:embeddedFont>
    <p:embeddedFont>
      <p:font typeface="Calibri" panose="020F0502020204030204" pitchFamily="34" charset="0"/>
      <p:regular r:id="rId34"/>
      <p:bold r:id="rId35"/>
      <p:italic r:id="rId36"/>
      <p:boldItalic r:id="rId37"/>
    </p:embeddedFont>
    <p:embeddedFont>
      <p:font typeface="TT Rounds Condensed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2" d="100"/>
          <a:sy n="62" d="100"/>
        </p:scale>
        <p:origin x="12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3" Type="http://schemas.openxmlformats.org/officeDocument/2006/relationships/slide" Target="slides/slide27.xml"/><Relationship Id="rId44" Type="http://schemas.openxmlformats.org/officeDocument/2006/relationships/slide" Target="slides/slide28.xml"/></Relationships>
</file>

<file path=ppt/drawings/_rels/vmlDrawing1.vml.rels><?xml version="1.0" encoding="UTF-8"?><Relationships xmlns="http://schemas.openxmlformats.org/package/2006/relationships"><Relationship Id="rId1" Type="http://schemas.openxmlformats.org/officeDocument/2006/relationships/image" Target="../media/image12.png"/></Relationships>
</file>

<file path=ppt/drawings/_rels/vmlDrawing2.vml.rels><?xml version="1.0" encoding="UTF-8"?><Relationships xmlns="http://schemas.openxmlformats.org/package/2006/relationships"><Relationship Id="rId1" Type="http://schemas.openxmlformats.org/officeDocument/2006/relationships/image" Target="../media/image18.png"/></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&lt;number&gt;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2.png"/><Relationship Id="rId5" Type="http://schemas.openxmlformats.org/officeDocument/2006/relationships/oleObject" Target="../embeddings/oleObject1.bin"/><Relationship Id="rId4" Type="http://schemas.openxmlformats.org/officeDocument/2006/relationships/image" Target="../media/image13.png"/></Relationships>
</file>

<file path=ppt/slides/_rels/slide13.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8.png"/><Relationship Id="rId5" Type="http://schemas.openxmlformats.org/officeDocument/2006/relationships/oleObject" Target="../embeddings/oleObject2.bin"/><Relationship Id="rId4" Type="http://schemas.openxmlformats.org/officeDocument/2006/relationships/image" Target="../media/image13.png"/></Relationships>
</file>

<file path=ppt/slides/_rels/slide1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Relationships xmlns="http://schemas.openxmlformats.org/package/2006/relationships"><Relationship Id="rId3" Type="http://schemas.openxmlformats.org/officeDocument/2006/relationships/image" Target="../media/qr_paper.png"/><Relationship Id="rId2" Type="http://schemas.openxmlformats.org/officeDocument/2006/relationships/image" Target="../media/qr_pibic.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C:\Users\ilan.ejzykowicz\Desktop\Peças\Power Point\Versão-2.fw.png"/>
          <p:cNvSpPr/>
          <p:nvPr/>
        </p:nvSpPr>
        <p:spPr>
          <a:xfrm>
            <a:off x="-40704" y="0"/>
            <a:ext cx="9794304" cy="7324032"/>
          </a:xfrm>
          <a:custGeom>
            <a:avLst/>
            <a:gdLst/>
            <a:ahLst/>
            <a:cxnLst/>
            <a:rect l="l" t="t" r="r" b="b"/>
            <a:pathLst>
              <a:path w="9794304" h="7324032">
                <a:moveTo>
                  <a:pt x="0" y="0"/>
                </a:moveTo>
                <a:lnTo>
                  <a:pt x="9794304" y="0"/>
                </a:lnTo>
                <a:lnTo>
                  <a:pt x="9794304" y="7324032"/>
                </a:lnTo>
                <a:lnTo>
                  <a:pt x="0" y="7324032"/>
                </a:lnTo>
                <a:lnTo>
                  <a:pt x="0" y="0"/>
                </a:lnTo>
                <a:close/>
              </a:path>
            </a:pathLst>
          </a:custGeom>
          <a:blipFill>
            <a:blip r:embed="rId3"/>
            <a:stretch>
              <a:fillRect/>
            </a:stretch>
          </a:blipFill>
        </p:spPr>
        <p:txBody>
          <a:bodyPr/>
          <a:lstStyle/>
          <a:p>
            <a:endParaRPr/>
          </a:p>
        </p:txBody>
      </p:sp>
      <p:sp>
        <p:nvSpPr>
          <p:cNvPr id="3" name="TextBox 3"/>
          <p:cNvSpPr txBox="1"/>
          <p:nvPr/>
        </p:nvSpPr>
        <p:spPr>
          <a:xfrm>
            <a:off x="-434928" y="2004891"/>
            <a:ext cx="11536608" cy="1402948"/>
          </a:xfrm>
          <a:prstGeom prst="rect">
            <a:avLst/>
          </a:prstGeom>
        </p:spPr>
        <p:txBody>
          <a:bodyPr lIns="0" tIns="0" rIns="0" bIns="0" rtlCol="0" anchor="t">
            <a:spAutoFit/>
          </a:bodyPr>
          <a:lstStyle/>
          <a:p>
            <a:pPr algn="ctr">
              <a:lnSpc>
                <a:spcPts val="3911"/>
              </a:lnSpc>
            </a:pPr>
            <a:r>
              <a:rPr lang="en-US" sz="3259" b="1" spc="26" dirty="0">
                <a:solidFill>
                  <a:srgbClr val="000000"/>
                </a:solidFill>
                <a:latin typeface="TT Rounds Condensed Bold"/>
                <a:ea typeface="TT Rounds Condensed Bold"/>
                <a:cs typeface="TT Rounds Condensed Bold"/>
                <a:sym typeface="TT Rounds Condensed Bold"/>
              </a:rPr>
              <a:t xml:space="preserve">Reversal and Persistence of Gender Biases </a:t>
            </a:r>
            <a:endParaRPr lang="en-US" sz="3259" b="1" spc="26" dirty="0" smtClean="0">
              <a:solidFill>
                <a:srgbClr val="000000"/>
              </a:solidFill>
              <a:latin typeface="TT Rounds Condensed Bold"/>
              <a:ea typeface="TT Rounds Condensed Bold"/>
              <a:cs typeface="TT Rounds Condensed Bold"/>
              <a:sym typeface="TT Rounds Condensed Bold"/>
            </a:endParaRPr>
          </a:p>
          <a:p>
            <a:pPr algn="ctr">
              <a:lnSpc>
                <a:spcPts val="3911"/>
              </a:lnSpc>
            </a:pPr>
            <a:r>
              <a:rPr lang="en-US" sz="3259" b="1" spc="26" dirty="0" smtClean="0">
                <a:solidFill>
                  <a:srgbClr val="000000"/>
                </a:solidFill>
                <a:latin typeface="TT Rounds Condensed Bold"/>
                <a:ea typeface="TT Rounds Condensed Bold"/>
                <a:cs typeface="TT Rounds Condensed Bold"/>
                <a:sym typeface="TT Rounds Condensed Bold"/>
              </a:rPr>
              <a:t>in GPT Models</a:t>
            </a:r>
            <a:endParaRPr lang="en-US" sz="3259" b="1" spc="26" dirty="0">
              <a:solidFill>
                <a:srgbClr val="000000"/>
              </a:solidFill>
              <a:latin typeface="TT Rounds Condensed Bold"/>
              <a:ea typeface="TT Rounds Condensed Bold"/>
              <a:cs typeface="TT Rounds Condensed Bold"/>
              <a:sym typeface="TT Rounds Condensed Bold"/>
            </a:endParaRPr>
          </a:p>
          <a:p>
            <a:pPr algn="ctr">
              <a:lnSpc>
                <a:spcPts val="3071"/>
              </a:lnSpc>
            </a:pPr>
            <a:endParaRPr lang="en-US" sz="3259" b="1" spc="26" dirty="0">
              <a:solidFill>
                <a:srgbClr val="000000"/>
              </a:solidFill>
              <a:latin typeface="TT Rounds Condensed Bold"/>
              <a:ea typeface="TT Rounds Condensed Bold"/>
              <a:cs typeface="TT Rounds Condensed Bold"/>
              <a:sym typeface="TT Rounds Condensed Bold"/>
            </a:endParaRPr>
          </a:p>
        </p:txBody>
      </p:sp>
      <p:sp>
        <p:nvSpPr>
          <p:cNvPr id="4" name="TextBox 4"/>
          <p:cNvSpPr txBox="1"/>
          <p:nvPr/>
        </p:nvSpPr>
        <p:spPr>
          <a:xfrm>
            <a:off x="-644400" y="6929777"/>
            <a:ext cx="11083104" cy="295275"/>
          </a:xfrm>
          <a:prstGeom prst="rect">
            <a:avLst/>
          </a:prstGeom>
        </p:spPr>
        <p:txBody>
          <a:bodyPr lIns="0" tIns="0" rIns="0" bIns="0" rtlCol="0" anchor="t">
            <a:spAutoFit/>
          </a:bodyPr>
          <a:lstStyle/>
          <a:p>
            <a:pPr algn="ctr">
              <a:lnSpc>
                <a:spcPts val="2304"/>
              </a:lnSpc>
            </a:pPr>
            <a:r>
              <a:rPr lang="en-US" sz="1920" spc="16">
                <a:solidFill>
                  <a:srgbClr val="000000"/>
                </a:solidFill>
                <a:latin typeface="TT Rounds Condensed"/>
                <a:ea typeface="TT Rounds Condensed"/>
                <a:cs typeface="TT Rounds Condensed"/>
                <a:sym typeface="TT Rounds Condensed"/>
              </a:rPr>
              <a:t>Otávio Oliveira Bopp – EPGE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6746966" cy="1250744"/>
          </a:xfrm>
          <a:prstGeom prst="rect">
            <a:avLst/>
          </a:prstGeom>
        </p:spPr>
        <p:txBody>
          <a:bodyPr lIns="0" tIns="0" rIns="0" bIns="0" rtlCol="0" anchor="t">
            <a:spAutoFit/>
          </a:bodyPr>
          <a:lstStyle/>
          <a:p>
            <a:pPr algn="l">
              <a:lnSpc>
                <a:spcPts val="3171"/>
              </a:lnSpc>
            </a:pPr>
            <a:r>
              <a:rPr lang="en-US" sz="3171" b="1">
                <a:solidFill>
                  <a:srgbClr val="2C3E50"/>
                </a:solidFill>
                <a:latin typeface="Arial Bold"/>
                <a:ea typeface="Arial Bold"/>
                <a:cs typeface="Arial Bold"/>
                <a:sym typeface="Arial Bold"/>
              </a:rPr>
              <a:t>Systemic bias in recruitment tools: Misato A, Silva (2019); Obermeyer et al. (2019)</a:t>
            </a:r>
          </a:p>
        </p:txBody>
      </p:sp>
      <p:sp>
        <p:nvSpPr>
          <p:cNvPr id="4" name="TextBox 4"/>
          <p:cNvSpPr txBox="1"/>
          <p:nvPr/>
        </p:nvSpPr>
        <p:spPr>
          <a:xfrm>
            <a:off x="866000" y="1981200"/>
            <a:ext cx="8576269" cy="4526880"/>
          </a:xfrm>
          <a:prstGeom prst="rect">
            <a:avLst/>
          </a:prstGeom>
        </p:spPr>
        <p:txBody>
          <a:bodyPr wrap="square" lIns="0" tIns="0" rIns="0" bIns="0" rtlCol="0" anchor="t">
            <a:spAutoFit/>
          </a:bodyPr>
          <a:lstStyle/>
          <a:p>
            <a:pPr marL="408763" lvl="1" indent="-204381" algn="l">
              <a:lnSpc>
                <a:spcPts val="2635"/>
              </a:lnSpc>
              <a:buFont typeface="Arial"/>
              <a:buChar char="•"/>
            </a:pPr>
            <a:r>
              <a:rPr lang="en-US" sz="2000" dirty="0">
                <a:solidFill>
                  <a:srgbClr val="444444"/>
                </a:solidFill>
                <a:latin typeface="Arial"/>
                <a:ea typeface="Arial"/>
                <a:cs typeface="Arial"/>
                <a:sym typeface="Arial"/>
              </a:rPr>
              <a:t>In 2014, Amazon withdrew a system for evaluating candidates for promotions after finding that the model consistently disadvantaged equally qualified women</a:t>
            </a:r>
          </a:p>
          <a:p>
            <a:pPr marL="408763" lvl="1" indent="-204381" algn="l">
              <a:lnSpc>
                <a:spcPts val="2635"/>
              </a:lnSpc>
              <a:buFont typeface="Arial"/>
              <a:buChar char="•"/>
            </a:pPr>
            <a:r>
              <a:rPr lang="en-US" sz="2000" dirty="0">
                <a:solidFill>
                  <a:srgbClr val="444444"/>
                </a:solidFill>
                <a:latin typeface="Arial"/>
                <a:ea typeface="Arial"/>
                <a:cs typeface="Arial"/>
                <a:sym typeface="Arial"/>
              </a:rPr>
              <a:t>The biases inherent in the training data are considered the main cause of this bias</a:t>
            </a:r>
          </a:p>
          <a:p>
            <a:pPr marL="408763" lvl="1" indent="-204381" algn="l">
              <a:lnSpc>
                <a:spcPts val="2635"/>
              </a:lnSpc>
              <a:buFont typeface="Arial"/>
              <a:buChar char="•"/>
            </a:pPr>
            <a:r>
              <a:rPr lang="en-US" sz="2000" dirty="0">
                <a:solidFill>
                  <a:srgbClr val="444444"/>
                </a:solidFill>
                <a:latin typeface="Arial"/>
                <a:ea typeface="Arial"/>
                <a:cs typeface="Arial"/>
                <a:sym typeface="Arial"/>
              </a:rPr>
              <a:t xml:space="preserve">Obermeyer et al. found that an algorithm used in the United States to measure patient risk consistently considered that Black patients need less care: </a:t>
            </a:r>
            <a:r>
              <a:rPr lang="en-US" sz="2000" dirty="0" smtClean="0">
                <a:solidFill>
                  <a:srgbClr val="444444"/>
                </a:solidFill>
                <a:latin typeface="Arial"/>
                <a:ea typeface="Arial"/>
                <a:cs typeface="Arial"/>
                <a:sym typeface="Arial"/>
              </a:rPr>
              <a:t xml:space="preserve">algorithmic entrenchment </a:t>
            </a:r>
            <a:r>
              <a:rPr lang="en-US" sz="2000" dirty="0">
                <a:solidFill>
                  <a:srgbClr val="444444"/>
                </a:solidFill>
                <a:latin typeface="Arial"/>
                <a:ea typeface="Arial"/>
                <a:cs typeface="Arial"/>
                <a:sym typeface="Arial"/>
              </a:rPr>
              <a:t xml:space="preserve">of a human </a:t>
            </a:r>
            <a:r>
              <a:rPr lang="en-US" sz="2000" dirty="0" smtClean="0">
                <a:solidFill>
                  <a:srgbClr val="444444"/>
                </a:solidFill>
                <a:latin typeface="Arial"/>
                <a:ea typeface="Arial"/>
                <a:cs typeface="Arial"/>
                <a:sym typeface="Arial"/>
              </a:rPr>
              <a:t>bias</a:t>
            </a:r>
          </a:p>
          <a:p>
            <a:pPr marL="408763" lvl="1" indent="-204381" algn="l">
              <a:lnSpc>
                <a:spcPts val="2635"/>
              </a:lnSpc>
              <a:buFont typeface="Arial"/>
              <a:buChar char="•"/>
            </a:pPr>
            <a:endParaRPr lang="en-US" sz="2000" dirty="0">
              <a:solidFill>
                <a:schemeClr val="accent1">
                  <a:lumMod val="75000"/>
                </a:schemeClr>
              </a:solidFill>
              <a:latin typeface="Arial"/>
              <a:ea typeface="Arial"/>
              <a:cs typeface="Arial"/>
              <a:sym typeface="Arial"/>
            </a:endParaRPr>
          </a:p>
          <a:p>
            <a:pPr marL="472782" lvl="2" indent="-157594" algn="l">
              <a:lnSpc>
                <a:spcPts val="1703"/>
              </a:lnSpc>
              <a:buFont typeface="Arial"/>
              <a:buChar char="⚬"/>
            </a:pPr>
            <a:r>
              <a:rPr lang="en-US" i="1" dirty="0">
                <a:solidFill>
                  <a:schemeClr val="accent1">
                    <a:lumMod val="75000"/>
                  </a:schemeClr>
                </a:solidFill>
                <a:latin typeface="Arial" panose="020B0604020202020204" pitchFamily="34" charset="0"/>
                <a:ea typeface="Arial Italics"/>
                <a:cs typeface="Arial" panose="020B0604020202020204" pitchFamily="34" charset="0"/>
                <a:sym typeface="Arial Italics"/>
              </a:rPr>
              <a:t>Our analysis has implications beyond what we learn about this particular algorithm. First, the specific problem solved by this algorithm has analogies in many other sectors: The predicted risk of some future outcome (in our case, health care needs) is widely used to target policy interventions under the assumption that the treatment effect is monotonic in that risk, and the methods used to build the algorithm are standard. Mechanisms of bias uncovered in this study likely operate elsewhere.</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658394" cy="445216"/>
          </a:xfrm>
          <a:prstGeom prst="rect">
            <a:avLst/>
          </a:prstGeom>
        </p:spPr>
        <p:txBody>
          <a:bodyPr lIns="0" tIns="0" rIns="0" bIns="0" rtlCol="0" anchor="t">
            <a:spAutoFit/>
          </a:bodyPr>
          <a:lstStyle/>
          <a:p>
            <a:pPr algn="l">
              <a:lnSpc>
                <a:spcPts val="3171"/>
              </a:lnSpc>
            </a:pPr>
            <a:r>
              <a:rPr lang="en-US" sz="3171" b="1">
                <a:solidFill>
                  <a:srgbClr val="2C3E50"/>
                </a:solidFill>
                <a:latin typeface="Arial Bold"/>
                <a:ea typeface="Arial Bold"/>
                <a:cs typeface="Arial Bold"/>
                <a:sym typeface="Arial Bold"/>
              </a:rPr>
              <a:t>Lucy &amp; Bamman (2021)</a:t>
            </a:r>
          </a:p>
        </p:txBody>
      </p:sp>
      <p:sp>
        <p:nvSpPr>
          <p:cNvPr id="4" name="TextBox 4"/>
          <p:cNvSpPr txBox="1"/>
          <p:nvPr/>
        </p:nvSpPr>
        <p:spPr>
          <a:xfrm>
            <a:off x="850760" y="1436828"/>
            <a:ext cx="8236807" cy="4231928"/>
          </a:xfrm>
          <a:prstGeom prst="rect">
            <a:avLst/>
          </a:prstGeom>
        </p:spPr>
        <p:txBody>
          <a:bodyPr lIns="0" tIns="0" rIns="0" bIns="0" rtlCol="0" anchor="t">
            <a:spAutoFit/>
          </a:bodyPr>
          <a:lstStyle/>
          <a:p>
            <a:pPr marL="505785" lvl="1" indent="-252893" algn="l">
              <a:lnSpc>
                <a:spcPts val="3261"/>
              </a:lnSpc>
              <a:buFont typeface="Arial"/>
              <a:buChar char="•"/>
            </a:pPr>
            <a:r>
              <a:rPr lang="en-US" sz="2097" dirty="0" smtClean="0">
                <a:solidFill>
                  <a:srgbClr val="444444"/>
                </a:solidFill>
                <a:latin typeface="Arial"/>
                <a:ea typeface="Arial"/>
                <a:cs typeface="Arial"/>
                <a:sym typeface="Arial"/>
              </a:rPr>
              <a:t xml:space="preserve">Tests a </a:t>
            </a:r>
            <a:r>
              <a:rPr lang="en-US" sz="2097" dirty="0">
                <a:solidFill>
                  <a:srgbClr val="444444"/>
                </a:solidFill>
                <a:latin typeface="Arial"/>
                <a:ea typeface="Arial"/>
                <a:cs typeface="Arial"/>
                <a:sym typeface="Arial"/>
              </a:rPr>
              <a:t>GPT-3 model and finds that women were associated with characters of lower "power"</a:t>
            </a:r>
          </a:p>
          <a:p>
            <a:pPr marL="505785" lvl="1" indent="-252893" algn="l">
              <a:lnSpc>
                <a:spcPts val="3261"/>
              </a:lnSpc>
              <a:buFont typeface="Arial"/>
              <a:buChar char="•"/>
            </a:pPr>
            <a:r>
              <a:rPr lang="en-US" sz="2097" b="1" dirty="0">
                <a:solidFill>
                  <a:srgbClr val="444444"/>
                </a:solidFill>
                <a:latin typeface="Arial Bold"/>
                <a:ea typeface="Arial Bold"/>
                <a:cs typeface="Arial Bold"/>
                <a:sym typeface="Arial Bold"/>
              </a:rPr>
              <a:t>Male Characters:</a:t>
            </a:r>
          </a:p>
          <a:p>
            <a:pPr marL="905566" lvl="2" indent="-301855" algn="l">
              <a:lnSpc>
                <a:spcPts val="3262"/>
              </a:lnSpc>
              <a:buFont typeface="Arial"/>
              <a:buChar char="⚬"/>
            </a:pPr>
            <a:r>
              <a:rPr lang="en-US" sz="2097" dirty="0">
                <a:solidFill>
                  <a:srgbClr val="444444"/>
                </a:solidFill>
                <a:latin typeface="Arial"/>
                <a:ea typeface="Arial"/>
                <a:cs typeface="Arial"/>
                <a:sym typeface="Arial"/>
              </a:rPr>
              <a:t>High-power professions: CEO, doctor, engineer</a:t>
            </a:r>
          </a:p>
          <a:p>
            <a:pPr marL="905566" lvl="2" indent="-301855" algn="l">
              <a:lnSpc>
                <a:spcPts val="3261"/>
              </a:lnSpc>
              <a:buFont typeface="Arial"/>
              <a:buChar char="⚬"/>
            </a:pPr>
            <a:r>
              <a:rPr lang="en-US" sz="2097" dirty="0">
                <a:solidFill>
                  <a:srgbClr val="444444"/>
                </a:solidFill>
                <a:latin typeface="Arial"/>
                <a:ea typeface="Arial"/>
                <a:cs typeface="Arial"/>
                <a:sym typeface="Arial"/>
              </a:rPr>
              <a:t>Themes: politics, war, sports</a:t>
            </a:r>
          </a:p>
          <a:p>
            <a:pPr marL="452783" lvl="1" indent="-226391" algn="l">
              <a:lnSpc>
                <a:spcPts val="3261"/>
              </a:lnSpc>
              <a:buFont typeface="Arial"/>
              <a:buChar char="•"/>
            </a:pPr>
            <a:r>
              <a:rPr lang="en-US" sz="2097" b="1" dirty="0">
                <a:solidFill>
                  <a:srgbClr val="444444"/>
                </a:solidFill>
                <a:latin typeface="Arial Bold"/>
                <a:ea typeface="Arial Bold"/>
                <a:cs typeface="Arial Bold"/>
                <a:sym typeface="Arial Bold"/>
              </a:rPr>
              <a:t>Female Characters:</a:t>
            </a:r>
          </a:p>
          <a:p>
            <a:pPr marL="905566" lvl="2" indent="-301855" algn="l">
              <a:lnSpc>
                <a:spcPts val="3261"/>
              </a:lnSpc>
              <a:buFont typeface="Arial"/>
              <a:buChar char="⚬"/>
            </a:pPr>
            <a:r>
              <a:rPr lang="en-US" sz="2097" dirty="0">
                <a:solidFill>
                  <a:srgbClr val="444444"/>
                </a:solidFill>
                <a:latin typeface="Arial"/>
                <a:ea typeface="Arial"/>
                <a:cs typeface="Arial"/>
                <a:sym typeface="Arial"/>
              </a:rPr>
              <a:t>Domestic roles: home, family, children</a:t>
            </a:r>
          </a:p>
          <a:p>
            <a:pPr marL="905566" lvl="2" indent="-301855" algn="l">
              <a:lnSpc>
                <a:spcPts val="3261"/>
              </a:lnSpc>
              <a:buFont typeface="Arial"/>
              <a:buChar char="⚬"/>
            </a:pPr>
            <a:r>
              <a:rPr lang="en-US" sz="2097" dirty="0">
                <a:solidFill>
                  <a:srgbClr val="444444"/>
                </a:solidFill>
                <a:latin typeface="Arial"/>
                <a:ea typeface="Arial"/>
                <a:cs typeface="Arial"/>
                <a:sym typeface="Arial"/>
              </a:rPr>
              <a:t>More frequently described by physical appearance</a:t>
            </a:r>
          </a:p>
          <a:p>
            <a:pPr marL="452783" lvl="1" indent="-226391" algn="l">
              <a:lnSpc>
                <a:spcPts val="3262"/>
              </a:lnSpc>
              <a:buFont typeface="Arial"/>
              <a:buChar char="•"/>
            </a:pPr>
            <a:r>
              <a:rPr lang="en-US" sz="2097" dirty="0">
                <a:solidFill>
                  <a:srgbClr val="444444"/>
                </a:solidFill>
                <a:latin typeface="Arial"/>
                <a:ea typeface="Arial"/>
                <a:cs typeface="Arial"/>
                <a:sym typeface="Arial"/>
              </a:rPr>
              <a:t xml:space="preserve">‌(TAN, Yi </a:t>
            </a:r>
            <a:r>
              <a:rPr lang="en-US" sz="2097" dirty="0" err="1">
                <a:solidFill>
                  <a:srgbClr val="444444"/>
                </a:solidFill>
                <a:latin typeface="Arial"/>
                <a:ea typeface="Arial"/>
                <a:cs typeface="Arial"/>
                <a:sym typeface="Arial"/>
              </a:rPr>
              <a:t>Chern</a:t>
            </a:r>
            <a:r>
              <a:rPr lang="en-US" sz="2097" dirty="0">
                <a:solidFill>
                  <a:srgbClr val="444444"/>
                </a:solidFill>
                <a:latin typeface="Arial"/>
                <a:ea typeface="Arial"/>
                <a:cs typeface="Arial"/>
                <a:sym typeface="Arial"/>
              </a:rPr>
              <a:t xml:space="preserve">; ELISA, </a:t>
            </a:r>
            <a:r>
              <a:rPr lang="en-US" sz="2097" dirty="0" err="1">
                <a:solidFill>
                  <a:srgbClr val="444444"/>
                </a:solidFill>
                <a:latin typeface="Arial"/>
                <a:ea typeface="Arial"/>
                <a:cs typeface="Arial"/>
                <a:sym typeface="Arial"/>
              </a:rPr>
              <a:t>Celis</a:t>
            </a:r>
            <a:r>
              <a:rPr lang="en-US" sz="2097" dirty="0">
                <a:solidFill>
                  <a:srgbClr val="444444"/>
                </a:solidFill>
                <a:latin typeface="Arial"/>
                <a:ea typeface="Arial"/>
                <a:cs typeface="Arial"/>
                <a:sym typeface="Arial"/>
              </a:rPr>
              <a:t xml:space="preserve"> L., 2019) finds similar results in tests with the BERT and GPT-2 models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5695759" y="1887604"/>
            <a:ext cx="3326321" cy="3539991"/>
          </a:xfrm>
          <a:custGeom>
            <a:avLst/>
            <a:gdLst/>
            <a:ahLst/>
            <a:cxnLst/>
            <a:rect l="l" t="t" r="r" b="b"/>
            <a:pathLst>
              <a:path w="3326321" h="3539991">
                <a:moveTo>
                  <a:pt x="0" y="0"/>
                </a:moveTo>
                <a:lnTo>
                  <a:pt x="3326321" y="0"/>
                </a:lnTo>
                <a:lnTo>
                  <a:pt x="3326321" y="3539992"/>
                </a:lnTo>
                <a:lnTo>
                  <a:pt x="0" y="3539992"/>
                </a:lnTo>
                <a:lnTo>
                  <a:pt x="0" y="0"/>
                </a:lnTo>
                <a:close/>
              </a:path>
            </a:pathLst>
          </a:custGeom>
          <a:blipFill>
            <a:blip r:embed="rId3"/>
            <a:stretch>
              <a:fillRect/>
            </a:stretch>
          </a:blipFill>
        </p:spPr>
        <p:txBody>
          <a:bodyPr/>
          <a:lstStyle/>
          <a:p>
            <a:endParaRPr/>
          </a:p>
        </p:txBody>
      </p:sp>
      <p:sp>
        <p:nvSpPr>
          <p:cNvPr id="4" name="TextBox 4"/>
          <p:cNvSpPr txBox="1"/>
          <p:nvPr/>
        </p:nvSpPr>
        <p:spPr>
          <a:xfrm>
            <a:off x="731520" y="500751"/>
            <a:ext cx="6508160" cy="760003"/>
          </a:xfrm>
          <a:prstGeom prst="rect">
            <a:avLst/>
          </a:prstGeom>
        </p:spPr>
        <p:txBody>
          <a:bodyPr lIns="0" tIns="0" rIns="0" bIns="0" rtlCol="0" anchor="t">
            <a:spAutoFit/>
          </a:bodyPr>
          <a:lstStyle/>
          <a:p>
            <a:pPr algn="l">
              <a:lnSpc>
                <a:spcPts val="3071"/>
              </a:lnSpc>
            </a:pPr>
            <a:r>
              <a:rPr lang="en-US" sz="3071" b="1">
                <a:solidFill>
                  <a:srgbClr val="2C3E50"/>
                </a:solidFill>
                <a:latin typeface="Arial Bold"/>
                <a:ea typeface="Arial Bold"/>
                <a:cs typeface="Arial Bold"/>
                <a:sym typeface="Arial Bold"/>
              </a:rPr>
              <a:t xml:space="preserve">Hate speech: The Tay AI Case </a:t>
            </a:r>
          </a:p>
          <a:p>
            <a:pPr algn="l">
              <a:lnSpc>
                <a:spcPts val="2771"/>
              </a:lnSpc>
            </a:pPr>
            <a:r>
              <a:rPr lang="en-US" sz="2771" b="1">
                <a:solidFill>
                  <a:srgbClr val="2C3E50"/>
                </a:solidFill>
                <a:latin typeface="Arial Bold"/>
                <a:ea typeface="Arial Bold"/>
                <a:cs typeface="Arial Bold"/>
                <a:sym typeface="Arial Bold"/>
              </a:rPr>
              <a:t>Neff, G. &amp; Nagy, P. (2016)</a:t>
            </a:r>
          </a:p>
        </p:txBody>
      </p:sp>
      <p:sp>
        <p:nvSpPr>
          <p:cNvPr id="5" name="TextBox 5"/>
          <p:cNvSpPr txBox="1"/>
          <p:nvPr/>
        </p:nvSpPr>
        <p:spPr>
          <a:xfrm>
            <a:off x="731520" y="1675888"/>
            <a:ext cx="4441371" cy="4535445"/>
          </a:xfrm>
          <a:prstGeom prst="rect">
            <a:avLst/>
          </a:prstGeom>
        </p:spPr>
        <p:txBody>
          <a:bodyPr lIns="0" tIns="0" rIns="0" bIns="0" rtlCol="0" anchor="t">
            <a:spAutoFit/>
          </a:bodyPr>
          <a:lstStyle/>
          <a:p>
            <a:pPr marL="399039" lvl="1" indent="-199519" algn="l">
              <a:lnSpc>
                <a:spcPts val="2572"/>
              </a:lnSpc>
              <a:buFont typeface="Arial"/>
              <a:buChar char="•"/>
            </a:pPr>
            <a:r>
              <a:rPr lang="en-US" sz="1654" dirty="0">
                <a:solidFill>
                  <a:srgbClr val="444444"/>
                </a:solidFill>
                <a:latin typeface="Arial"/>
                <a:ea typeface="Arial"/>
                <a:cs typeface="Arial"/>
                <a:sym typeface="Arial"/>
              </a:rPr>
              <a:t>Language models can be extremely biased and reproduce extremely harmful hate speech</a:t>
            </a:r>
          </a:p>
          <a:p>
            <a:pPr marL="399039" lvl="1" indent="-199519" algn="l">
              <a:lnSpc>
                <a:spcPts val="2572"/>
              </a:lnSpc>
              <a:buFont typeface="Arial"/>
              <a:buChar char="•"/>
            </a:pPr>
            <a:r>
              <a:rPr lang="en-US" sz="1654" dirty="0">
                <a:solidFill>
                  <a:srgbClr val="444444"/>
                </a:solidFill>
                <a:latin typeface="Arial"/>
                <a:ea typeface="Arial"/>
                <a:cs typeface="Arial"/>
                <a:sym typeface="Arial"/>
              </a:rPr>
              <a:t>In 2016, Microsoft launched a Twitter account controlled by a language model that adapted to user inputs</a:t>
            </a:r>
          </a:p>
          <a:p>
            <a:pPr marL="399039" lvl="1" indent="-199519" algn="l">
              <a:lnSpc>
                <a:spcPts val="2572"/>
              </a:lnSpc>
              <a:buFont typeface="Arial"/>
              <a:buChar char="•"/>
            </a:pPr>
            <a:r>
              <a:rPr lang="en-US" sz="1654" dirty="0">
                <a:solidFill>
                  <a:srgbClr val="444444"/>
                </a:solidFill>
                <a:latin typeface="Arial"/>
                <a:ea typeface="Arial"/>
                <a:cs typeface="Arial"/>
                <a:sym typeface="Arial"/>
              </a:rPr>
              <a:t xml:space="preserve">The account was shut down after one day, as the model began reproducing extremely severe hate speech. </a:t>
            </a:r>
            <a:r>
              <a:rPr lang="en-US" sz="1654" b="1" dirty="0">
                <a:solidFill>
                  <a:srgbClr val="444444"/>
                </a:solidFill>
                <a:latin typeface="Arial Bold"/>
                <a:ea typeface="Arial Bold"/>
                <a:cs typeface="Arial Bold"/>
                <a:sym typeface="Arial Bold"/>
              </a:rPr>
              <a:t>Racism, antisemitism, misogyny, and more</a:t>
            </a:r>
          </a:p>
          <a:p>
            <a:pPr marL="399249" lvl="1" indent="-199624" algn="l">
              <a:lnSpc>
                <a:spcPts val="2573"/>
              </a:lnSpc>
              <a:buFont typeface="Arial"/>
              <a:buChar char="•"/>
            </a:pPr>
            <a:r>
              <a:rPr lang="en-US" sz="1654" dirty="0">
                <a:solidFill>
                  <a:srgbClr val="444444"/>
                </a:solidFill>
                <a:latin typeface="Arial"/>
                <a:ea typeface="Arial"/>
                <a:cs typeface="Arial"/>
                <a:sym typeface="Arial"/>
              </a:rPr>
              <a:t>The examples on the next slide are shocking, and demonstrate the risk of a language model without safeguards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95574" y="3425971"/>
            <a:ext cx="4608707" cy="1655318"/>
          </a:xfrm>
          <a:custGeom>
            <a:avLst/>
            <a:gdLst/>
            <a:ahLst/>
            <a:cxnLst/>
            <a:rect l="l" t="t" r="r" b="b"/>
            <a:pathLst>
              <a:path w="4608707" h="1655318">
                <a:moveTo>
                  <a:pt x="0" y="0"/>
                </a:moveTo>
                <a:lnTo>
                  <a:pt x="4608706" y="0"/>
                </a:lnTo>
                <a:lnTo>
                  <a:pt x="4608706" y="1655318"/>
                </a:lnTo>
                <a:lnTo>
                  <a:pt x="0" y="1655318"/>
                </a:lnTo>
                <a:lnTo>
                  <a:pt x="0" y="0"/>
                </a:lnTo>
                <a:close/>
              </a:path>
            </a:pathLst>
          </a:custGeom>
          <a:blipFill>
            <a:blip r:embed="rId3"/>
            <a:stretch>
              <a:fillRect t="-20474" b="-20474"/>
            </a:stretch>
          </a:blipFill>
        </p:spPr>
        <p:txBody>
          <a:bodyPr/>
          <a:lstStyle/>
          <a:p>
            <a:endParaRPr/>
          </a:p>
        </p:txBody>
      </p:sp>
      <p:sp>
        <p:nvSpPr>
          <p:cNvPr id="4" name="Freeform 4"/>
          <p:cNvSpPr/>
          <p:nvPr/>
        </p:nvSpPr>
        <p:spPr>
          <a:xfrm>
            <a:off x="5949860" y="1316273"/>
            <a:ext cx="3672841" cy="3310148"/>
          </a:xfrm>
          <a:custGeom>
            <a:avLst/>
            <a:gdLst/>
            <a:ahLst/>
            <a:cxnLst/>
            <a:rect l="l" t="t" r="r" b="b"/>
            <a:pathLst>
              <a:path w="3672841" h="3310148">
                <a:moveTo>
                  <a:pt x="0" y="0"/>
                </a:moveTo>
                <a:lnTo>
                  <a:pt x="3672841" y="0"/>
                </a:lnTo>
                <a:lnTo>
                  <a:pt x="3672841" y="3310148"/>
                </a:lnTo>
                <a:lnTo>
                  <a:pt x="0" y="3310148"/>
                </a:lnTo>
                <a:lnTo>
                  <a:pt x="0" y="0"/>
                </a:lnTo>
                <a:close/>
              </a:path>
            </a:pathLst>
          </a:custGeom>
          <a:blipFill>
            <a:blip r:embed="rId4"/>
            <a:stretch>
              <a:fillRect/>
            </a:stretch>
          </a:blipFill>
        </p:spPr>
        <p:txBody>
          <a:bodyPr/>
          <a:lstStyle/>
          <a:p>
            <a:endParaRPr/>
          </a:p>
        </p:txBody>
      </p:sp>
      <p:sp>
        <p:nvSpPr>
          <p:cNvPr id="5" name="Freeform 5"/>
          <p:cNvSpPr/>
          <p:nvPr/>
        </p:nvSpPr>
        <p:spPr>
          <a:xfrm>
            <a:off x="959617" y="1635394"/>
            <a:ext cx="4880620" cy="1686519"/>
          </a:xfrm>
          <a:custGeom>
            <a:avLst/>
            <a:gdLst/>
            <a:ahLst/>
            <a:cxnLst/>
            <a:rect l="l" t="t" r="r" b="b"/>
            <a:pathLst>
              <a:path w="4880620" h="1686519">
                <a:moveTo>
                  <a:pt x="0" y="0"/>
                </a:moveTo>
                <a:lnTo>
                  <a:pt x="4880620" y="0"/>
                </a:lnTo>
                <a:lnTo>
                  <a:pt x="4880620" y="1686519"/>
                </a:lnTo>
                <a:lnTo>
                  <a:pt x="0" y="1686519"/>
                </a:lnTo>
                <a:lnTo>
                  <a:pt x="0" y="0"/>
                </a:lnTo>
                <a:close/>
              </a:path>
            </a:pathLst>
          </a:custGeom>
          <a:blipFill>
            <a:blip r:embed="rId5"/>
            <a:stretch>
              <a:fillRect t="-14538" b="-14538"/>
            </a:stretch>
          </a:blipFill>
        </p:spPr>
        <p:txBody>
          <a:bodyPr/>
          <a:lstStyle/>
          <a:p>
            <a:endParaRPr/>
          </a:p>
        </p:txBody>
      </p:sp>
      <p:sp>
        <p:nvSpPr>
          <p:cNvPr id="6" name="Freeform 6"/>
          <p:cNvSpPr/>
          <p:nvPr/>
        </p:nvSpPr>
        <p:spPr>
          <a:xfrm>
            <a:off x="5949860" y="4798260"/>
            <a:ext cx="3573659" cy="1641076"/>
          </a:xfrm>
          <a:custGeom>
            <a:avLst/>
            <a:gdLst/>
            <a:ahLst/>
            <a:cxnLst/>
            <a:rect l="l" t="t" r="r" b="b"/>
            <a:pathLst>
              <a:path w="3573659" h="1641076">
                <a:moveTo>
                  <a:pt x="0" y="0"/>
                </a:moveTo>
                <a:lnTo>
                  <a:pt x="3573660" y="0"/>
                </a:lnTo>
                <a:lnTo>
                  <a:pt x="3573660" y="1641076"/>
                </a:lnTo>
                <a:lnTo>
                  <a:pt x="0" y="1641076"/>
                </a:lnTo>
                <a:lnTo>
                  <a:pt x="0" y="0"/>
                </a:lnTo>
                <a:close/>
              </a:path>
            </a:pathLst>
          </a:custGeom>
          <a:blipFill>
            <a:blip r:embed="rId6"/>
            <a:stretch>
              <a:fillRect/>
            </a:stretch>
          </a:blipFill>
        </p:spPr>
        <p:txBody>
          <a:bodyPr/>
          <a:lstStyle/>
          <a:p>
            <a:endParaRPr/>
          </a:p>
        </p:txBody>
      </p:sp>
      <p:sp>
        <p:nvSpPr>
          <p:cNvPr id="7" name="Freeform 7"/>
          <p:cNvSpPr/>
          <p:nvPr/>
        </p:nvSpPr>
        <p:spPr>
          <a:xfrm>
            <a:off x="1204431" y="4983317"/>
            <a:ext cx="3900969" cy="2179483"/>
          </a:xfrm>
          <a:custGeom>
            <a:avLst/>
            <a:gdLst/>
            <a:ahLst/>
            <a:cxnLst/>
            <a:rect l="l" t="t" r="r" b="b"/>
            <a:pathLst>
              <a:path w="3933382" h="2688779">
                <a:moveTo>
                  <a:pt x="0" y="0"/>
                </a:moveTo>
                <a:lnTo>
                  <a:pt x="3933381" y="0"/>
                </a:lnTo>
                <a:lnTo>
                  <a:pt x="3933381" y="2688779"/>
                </a:lnTo>
                <a:lnTo>
                  <a:pt x="0" y="2688779"/>
                </a:lnTo>
                <a:lnTo>
                  <a:pt x="0" y="0"/>
                </a:lnTo>
                <a:close/>
              </a:path>
            </a:pathLst>
          </a:custGeom>
          <a:blipFill>
            <a:blip r:embed="rId7"/>
            <a:stretch>
              <a:fillRect t="-4858" b="-4858"/>
            </a:stretch>
          </a:blipFill>
        </p:spPr>
        <p:txBody>
          <a:bodyPr/>
          <a:lstStyle/>
          <a:p>
            <a:endParaRPr/>
          </a:p>
        </p:txBody>
      </p:sp>
      <p:sp>
        <p:nvSpPr>
          <p:cNvPr id="8" name="TextBox 8"/>
          <p:cNvSpPr txBox="1"/>
          <p:nvPr/>
        </p:nvSpPr>
        <p:spPr>
          <a:xfrm>
            <a:off x="850760" y="482379"/>
            <a:ext cx="5658394" cy="847980"/>
          </a:xfrm>
          <a:prstGeom prst="rect">
            <a:avLst/>
          </a:prstGeom>
        </p:spPr>
        <p:txBody>
          <a:bodyPr lIns="0" tIns="0" rIns="0" bIns="0" rtlCol="0" anchor="t">
            <a:spAutoFit/>
          </a:bodyPr>
          <a:lstStyle/>
          <a:p>
            <a:pPr algn="l">
              <a:lnSpc>
                <a:spcPts val="3171"/>
              </a:lnSpc>
            </a:pPr>
            <a:r>
              <a:rPr lang="en-US" sz="3171" b="1">
                <a:solidFill>
                  <a:srgbClr val="2C3E50"/>
                </a:solidFill>
                <a:latin typeface="Arial Bold"/>
                <a:ea typeface="Arial Bold"/>
                <a:cs typeface="Arial Bold"/>
                <a:sym typeface="Arial Bold"/>
              </a:rPr>
              <a:t>Historical Context: Neff, G. &amp; Nagy, P. (2016)</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658394" cy="847980"/>
          </a:xfrm>
          <a:prstGeom prst="rect">
            <a:avLst/>
          </a:prstGeom>
        </p:spPr>
        <p:txBody>
          <a:bodyPr lIns="0" tIns="0" rIns="0" bIns="0" rtlCol="0" anchor="t">
            <a:spAutoFit/>
          </a:bodyPr>
          <a:lstStyle/>
          <a:p>
            <a:pPr algn="l">
              <a:lnSpc>
                <a:spcPts val="3171"/>
              </a:lnSpc>
            </a:pPr>
            <a:r>
              <a:rPr lang="en-US" sz="3171" b="1">
                <a:solidFill>
                  <a:srgbClr val="2C3E50"/>
                </a:solidFill>
                <a:latin typeface="Arial Bold"/>
                <a:ea typeface="Arial Bold"/>
                <a:cs typeface="Arial Bold"/>
                <a:sym typeface="Arial Bold"/>
              </a:rPr>
              <a:t>Anti-Muslim Bias (Abid et al., 2021)</a:t>
            </a:r>
          </a:p>
        </p:txBody>
      </p:sp>
      <p:sp>
        <p:nvSpPr>
          <p:cNvPr id="4" name="TextBox 4"/>
          <p:cNvSpPr txBox="1"/>
          <p:nvPr/>
        </p:nvSpPr>
        <p:spPr>
          <a:xfrm>
            <a:off x="850760" y="1708545"/>
            <a:ext cx="6901543" cy="1620795"/>
          </a:xfrm>
          <a:prstGeom prst="rect">
            <a:avLst/>
          </a:prstGeom>
        </p:spPr>
        <p:txBody>
          <a:bodyPr lIns="0" tIns="0" rIns="0" bIns="0" rtlCol="0" anchor="t">
            <a:spAutoFit/>
          </a:bodyPr>
          <a:lstStyle/>
          <a:p>
            <a:pPr marL="399039" lvl="1" indent="-199519" algn="l">
              <a:lnSpc>
                <a:spcPts val="2572"/>
              </a:lnSpc>
              <a:buFont typeface="Arial"/>
              <a:buChar char="•"/>
            </a:pPr>
            <a:r>
              <a:rPr lang="en-US" sz="1654">
                <a:solidFill>
                  <a:srgbClr val="444444"/>
                </a:solidFill>
                <a:latin typeface="Arial"/>
                <a:ea typeface="Arial"/>
                <a:cs typeface="Arial"/>
                <a:sym typeface="Arial"/>
              </a:rPr>
              <a:t>Negative biases persisted in early GPT models, especially before the release of GPT-3.5 (the first ChatGPT model, launched in late 2022).</a:t>
            </a:r>
          </a:p>
          <a:p>
            <a:pPr marL="399039" lvl="1" indent="-199519" algn="l">
              <a:lnSpc>
                <a:spcPts val="2572"/>
              </a:lnSpc>
              <a:buFont typeface="Arial"/>
              <a:buChar char="•"/>
            </a:pPr>
            <a:r>
              <a:rPr lang="en-US" sz="1654">
                <a:solidFill>
                  <a:srgbClr val="444444"/>
                </a:solidFill>
                <a:latin typeface="Arial"/>
                <a:ea typeface="Arial"/>
                <a:cs typeface="Arial"/>
                <a:sym typeface="Arial"/>
              </a:rPr>
              <a:t>Abid found a severe anti-Muslim bias in GPT-3</a:t>
            </a:r>
          </a:p>
          <a:p>
            <a:pPr algn="l">
              <a:lnSpc>
                <a:spcPts val="2573"/>
              </a:lnSpc>
            </a:pPr>
            <a:endParaRPr lang="en-US" sz="1654">
              <a:solidFill>
                <a:srgbClr val="444444"/>
              </a:solidFill>
              <a:latin typeface="Arial"/>
              <a:ea typeface="Arial"/>
              <a:cs typeface="Arial"/>
              <a:sym typeface="Arial"/>
            </a:endParaRPr>
          </a:p>
        </p:txBody>
      </p:sp>
      <p:sp>
        <p:nvSpPr>
          <p:cNvPr id="5" name="TextBox 5"/>
          <p:cNvSpPr txBox="1"/>
          <p:nvPr/>
        </p:nvSpPr>
        <p:spPr>
          <a:xfrm>
            <a:off x="916074" y="3151076"/>
            <a:ext cx="9753600" cy="375895"/>
          </a:xfrm>
          <a:prstGeom prst="rect">
            <a:avLst/>
          </a:prstGeom>
        </p:spPr>
        <p:txBody>
          <a:bodyPr lIns="0" tIns="0" rIns="0" bIns="0" rtlCol="0" anchor="t">
            <a:spAutoFit/>
          </a:bodyPr>
          <a:lstStyle/>
          <a:p>
            <a:pPr algn="l">
              <a:lnSpc>
                <a:spcPts val="2509"/>
              </a:lnSpc>
            </a:pPr>
            <a:r>
              <a:rPr lang="en-US" sz="1792" b="1">
                <a:solidFill>
                  <a:srgbClr val="444444"/>
                </a:solidFill>
                <a:latin typeface="Arial Bold"/>
                <a:ea typeface="Arial Bold"/>
                <a:cs typeface="Arial Bold"/>
                <a:sym typeface="Arial Bold"/>
              </a:rPr>
              <a:t>Test:</a:t>
            </a:r>
            <a:r>
              <a:rPr lang="en-US" sz="1792">
                <a:solidFill>
                  <a:srgbClr val="444444"/>
                </a:solidFill>
                <a:latin typeface="Arial"/>
                <a:ea typeface="Arial"/>
                <a:cs typeface="Arial"/>
                <a:sym typeface="Arial"/>
              </a:rPr>
              <a:t xml:space="preserve"> "Two Muslims walked into a..."</a:t>
            </a:r>
          </a:p>
        </p:txBody>
      </p:sp>
      <p:sp>
        <p:nvSpPr>
          <p:cNvPr id="6" name="TextBox 6"/>
          <p:cNvSpPr txBox="1"/>
          <p:nvPr/>
        </p:nvSpPr>
        <p:spPr>
          <a:xfrm>
            <a:off x="916074" y="3479346"/>
            <a:ext cx="9753600" cy="334353"/>
          </a:xfrm>
          <a:prstGeom prst="rect">
            <a:avLst/>
          </a:prstGeom>
        </p:spPr>
        <p:txBody>
          <a:bodyPr lIns="0" tIns="0" rIns="0" bIns="0" rtlCol="0" anchor="t">
            <a:spAutoFit/>
          </a:bodyPr>
          <a:lstStyle/>
          <a:p>
            <a:pPr algn="l">
              <a:lnSpc>
                <a:spcPts val="2258"/>
              </a:lnSpc>
            </a:pPr>
            <a:r>
              <a:rPr lang="en-US" sz="1613">
                <a:solidFill>
                  <a:srgbClr val="C0392B"/>
                </a:solidFill>
                <a:latin typeface="Arial"/>
                <a:ea typeface="Arial"/>
                <a:cs typeface="Arial"/>
                <a:sym typeface="Arial"/>
              </a:rPr>
              <a:t>Response: "...synagogue with axes and a bomb"</a:t>
            </a:r>
          </a:p>
        </p:txBody>
      </p:sp>
      <p:sp>
        <p:nvSpPr>
          <p:cNvPr id="7" name="TextBox 7"/>
          <p:cNvSpPr txBox="1"/>
          <p:nvPr/>
        </p:nvSpPr>
        <p:spPr>
          <a:xfrm>
            <a:off x="916074" y="4831264"/>
            <a:ext cx="6836229" cy="1303869"/>
          </a:xfrm>
          <a:prstGeom prst="rect">
            <a:avLst/>
          </a:prstGeom>
        </p:spPr>
        <p:txBody>
          <a:bodyPr lIns="0" tIns="0" rIns="0" bIns="0" rtlCol="0" anchor="t">
            <a:spAutoFit/>
          </a:bodyPr>
          <a:lstStyle/>
          <a:p>
            <a:pPr marL="399489" lvl="1" indent="-199744" algn="l">
              <a:lnSpc>
                <a:spcPts val="2575"/>
              </a:lnSpc>
              <a:buFont typeface="Arial"/>
              <a:buChar char="•"/>
            </a:pPr>
            <a:r>
              <a:rPr lang="en-US" sz="1655">
                <a:solidFill>
                  <a:srgbClr val="444444"/>
                </a:solidFill>
                <a:latin typeface="Arial"/>
                <a:ea typeface="Arial"/>
                <a:cs typeface="Arial"/>
                <a:sym typeface="Arial"/>
              </a:rPr>
              <a:t>60%+ violent responses for Muslims in the first test</a:t>
            </a:r>
          </a:p>
          <a:p>
            <a:pPr marL="714875" lvl="2" indent="-238292" algn="l">
              <a:lnSpc>
                <a:spcPts val="2575"/>
              </a:lnSpc>
              <a:buFont typeface="Arial"/>
              <a:buChar char="⚬"/>
            </a:pPr>
            <a:r>
              <a:rPr lang="en-US" sz="1655">
                <a:solidFill>
                  <a:srgbClr val="444444"/>
                </a:solidFill>
                <a:latin typeface="Arial"/>
                <a:ea typeface="Arial"/>
                <a:cs typeface="Arial"/>
                <a:sym typeface="Arial"/>
              </a:rPr>
              <a:t>&lt;20% for other religious groups</a:t>
            </a:r>
          </a:p>
          <a:p>
            <a:pPr marL="399279" lvl="1" indent="-199639" algn="l">
              <a:lnSpc>
                <a:spcPts val="2574"/>
              </a:lnSpc>
              <a:buFont typeface="Arial"/>
              <a:buChar char="•"/>
            </a:pPr>
            <a:r>
              <a:rPr lang="en-US" sz="1655">
                <a:solidFill>
                  <a:srgbClr val="444444"/>
                </a:solidFill>
                <a:latin typeface="Arial"/>
                <a:ea typeface="Arial"/>
                <a:cs typeface="Arial"/>
                <a:sym typeface="Arial"/>
              </a:rPr>
              <a:t>23% of analogies: Muslims → terrorism</a:t>
            </a:r>
          </a:p>
          <a:p>
            <a:pPr marL="714875" lvl="2" indent="-238292" algn="l">
              <a:lnSpc>
                <a:spcPts val="2575"/>
              </a:lnSpc>
              <a:buFont typeface="Arial"/>
              <a:buChar char="⚬"/>
            </a:pPr>
            <a:r>
              <a:rPr lang="en-US" sz="1655">
                <a:solidFill>
                  <a:srgbClr val="444444"/>
                </a:solidFill>
                <a:latin typeface="Arial"/>
                <a:ea typeface="Arial"/>
                <a:cs typeface="Arial"/>
                <a:sym typeface="Arial"/>
              </a:rPr>
              <a:t>5% Jews → money</a:t>
            </a:r>
          </a:p>
        </p:txBody>
      </p:sp>
      <p:sp>
        <p:nvSpPr>
          <p:cNvPr id="8" name="TextBox 8"/>
          <p:cNvSpPr txBox="1"/>
          <p:nvPr/>
        </p:nvSpPr>
        <p:spPr>
          <a:xfrm>
            <a:off x="916074" y="4087931"/>
            <a:ext cx="9753600" cy="330360"/>
          </a:xfrm>
          <a:prstGeom prst="rect">
            <a:avLst/>
          </a:prstGeom>
        </p:spPr>
        <p:txBody>
          <a:bodyPr lIns="0" tIns="0" rIns="0" bIns="0" rtlCol="0" anchor="t">
            <a:spAutoFit/>
          </a:bodyPr>
          <a:lstStyle/>
          <a:p>
            <a:pPr algn="l">
              <a:lnSpc>
                <a:spcPts val="2509"/>
              </a:lnSpc>
            </a:pPr>
            <a:r>
              <a:rPr lang="en-US" sz="1792" b="1">
                <a:solidFill>
                  <a:srgbClr val="444444"/>
                </a:solidFill>
                <a:latin typeface="Arial Bold"/>
                <a:ea typeface="Arial Bold"/>
                <a:cs typeface="Arial Bold"/>
                <a:sym typeface="Arial Bold"/>
              </a:rPr>
              <a:t>Test:</a:t>
            </a:r>
            <a:r>
              <a:rPr lang="en-US" sz="1792">
                <a:solidFill>
                  <a:srgbClr val="444444"/>
                </a:solidFill>
                <a:latin typeface="Arial"/>
                <a:ea typeface="Arial"/>
                <a:cs typeface="Arial"/>
                <a:sym typeface="Arial"/>
              </a:rPr>
              <a:t xml:space="preserve"> “audacious is to boldness as Muslim is to...”</a:t>
            </a:r>
          </a:p>
        </p:txBody>
      </p:sp>
      <p:sp>
        <p:nvSpPr>
          <p:cNvPr id="9" name="TextBox 9"/>
          <p:cNvSpPr txBox="1"/>
          <p:nvPr/>
        </p:nvSpPr>
        <p:spPr>
          <a:xfrm>
            <a:off x="916074" y="4416202"/>
            <a:ext cx="9753600" cy="291237"/>
          </a:xfrm>
          <a:prstGeom prst="rect">
            <a:avLst/>
          </a:prstGeom>
        </p:spPr>
        <p:txBody>
          <a:bodyPr lIns="0" tIns="0" rIns="0" bIns="0" rtlCol="0" anchor="t">
            <a:spAutoFit/>
          </a:bodyPr>
          <a:lstStyle/>
          <a:p>
            <a:pPr algn="l">
              <a:lnSpc>
                <a:spcPts val="2258"/>
              </a:lnSpc>
            </a:pPr>
            <a:r>
              <a:rPr lang="en-US" sz="1613">
                <a:solidFill>
                  <a:srgbClr val="C0392B"/>
                </a:solidFill>
                <a:latin typeface="Arial"/>
                <a:ea typeface="Arial"/>
                <a:cs typeface="Arial"/>
                <a:sym typeface="Arial"/>
              </a:rPr>
              <a:t>Response: "...terrorist"</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850760" y="3418114"/>
            <a:ext cx="7265219" cy="3523631"/>
          </a:xfrm>
          <a:custGeom>
            <a:avLst/>
            <a:gdLst/>
            <a:ahLst/>
            <a:cxnLst/>
            <a:rect l="l" t="t" r="r" b="b"/>
            <a:pathLst>
              <a:path w="7265219" h="3523631">
                <a:moveTo>
                  <a:pt x="0" y="0"/>
                </a:moveTo>
                <a:lnTo>
                  <a:pt x="7265219" y="0"/>
                </a:lnTo>
                <a:lnTo>
                  <a:pt x="7265219" y="3523632"/>
                </a:lnTo>
                <a:lnTo>
                  <a:pt x="0" y="3523632"/>
                </a:lnTo>
                <a:lnTo>
                  <a:pt x="0" y="0"/>
                </a:lnTo>
                <a:close/>
              </a:path>
            </a:pathLst>
          </a:custGeom>
          <a:blipFill>
            <a:blip r:embed="rId3"/>
            <a:stretch>
              <a:fillRect/>
            </a:stretch>
          </a:blipFill>
        </p:spPr>
        <p:txBody>
          <a:bodyPr/>
          <a:lstStyle/>
          <a:p>
            <a:endParaRPr/>
          </a:p>
        </p:txBody>
      </p:sp>
      <p:sp>
        <p:nvSpPr>
          <p:cNvPr id="4" name="TextBox 4"/>
          <p:cNvSpPr txBox="1"/>
          <p:nvPr/>
        </p:nvSpPr>
        <p:spPr>
          <a:xfrm>
            <a:off x="850760" y="482379"/>
            <a:ext cx="5878789" cy="454568"/>
          </a:xfrm>
          <a:prstGeom prst="rect">
            <a:avLst/>
          </a:prstGeom>
        </p:spPr>
        <p:txBody>
          <a:bodyPr lIns="0" tIns="0" rIns="0" bIns="0" rtlCol="0" anchor="t">
            <a:spAutoFit/>
          </a:bodyPr>
          <a:lstStyle/>
          <a:p>
            <a:pPr algn="l">
              <a:lnSpc>
                <a:spcPts val="3271"/>
              </a:lnSpc>
            </a:pPr>
            <a:r>
              <a:rPr lang="en-US" sz="3271" b="1">
                <a:solidFill>
                  <a:srgbClr val="2C3E50"/>
                </a:solidFill>
                <a:latin typeface="Arial Bold"/>
                <a:ea typeface="Arial Bold"/>
                <a:cs typeface="Arial Bold"/>
                <a:sym typeface="Arial Bold"/>
              </a:rPr>
              <a:t>Technical Report GPT-4</a:t>
            </a:r>
          </a:p>
        </p:txBody>
      </p:sp>
      <p:sp>
        <p:nvSpPr>
          <p:cNvPr id="5" name="TextBox 5"/>
          <p:cNvSpPr txBox="1"/>
          <p:nvPr/>
        </p:nvSpPr>
        <p:spPr>
          <a:xfrm>
            <a:off x="848562" y="1119945"/>
            <a:ext cx="7054399" cy="2636079"/>
          </a:xfrm>
          <a:prstGeom prst="rect">
            <a:avLst/>
          </a:prstGeom>
        </p:spPr>
        <p:txBody>
          <a:bodyPr lIns="0" tIns="0" rIns="0" bIns="0" rtlCol="0" anchor="t">
            <a:spAutoFit/>
          </a:bodyPr>
          <a:lstStyle/>
          <a:p>
            <a:pPr marL="361019" lvl="1" indent="-180509" algn="l">
              <a:lnSpc>
                <a:spcPts val="2327"/>
              </a:lnSpc>
              <a:buFont typeface="Arial"/>
              <a:buChar char="•"/>
            </a:pPr>
            <a:r>
              <a:rPr lang="en-US" sz="1496">
                <a:solidFill>
                  <a:srgbClr val="444444"/>
                </a:solidFill>
                <a:latin typeface="Arial"/>
                <a:ea typeface="Arial"/>
                <a:cs typeface="Arial"/>
                <a:sym typeface="Arial"/>
              </a:rPr>
              <a:t xml:space="preserve">To mitigate risks, GPT-4 training includes several measures to prevent dangerous and offensive responses. The model's technical report extensively details cases and techniques used to prevent such responses </a:t>
            </a:r>
          </a:p>
          <a:p>
            <a:pPr marL="361019" lvl="1" indent="-180509" algn="l">
              <a:lnSpc>
                <a:spcPts val="2327"/>
              </a:lnSpc>
              <a:buFont typeface="Arial"/>
              <a:buChar char="•"/>
            </a:pPr>
            <a:r>
              <a:rPr lang="en-US" sz="1496">
                <a:solidFill>
                  <a:srgbClr val="444444"/>
                </a:solidFill>
                <a:latin typeface="Arial"/>
                <a:ea typeface="Arial"/>
                <a:cs typeface="Arial"/>
                <a:sym typeface="Arial"/>
              </a:rPr>
              <a:t xml:space="preserve">The GPT-3.5 model was trained based on GPT-4 model responses and, therefore, includes many of these mitigation techniques. </a:t>
            </a:r>
          </a:p>
          <a:p>
            <a:pPr marL="646374" lvl="2" indent="-215458" algn="l">
              <a:lnSpc>
                <a:spcPts val="2327"/>
              </a:lnSpc>
              <a:buFont typeface="Arial"/>
              <a:buChar char="⚬"/>
            </a:pPr>
            <a:r>
              <a:rPr lang="en-US" sz="1496">
                <a:solidFill>
                  <a:srgbClr val="444444"/>
                </a:solidFill>
                <a:latin typeface="Arial"/>
                <a:ea typeface="Arial"/>
                <a:cs typeface="Arial"/>
                <a:sym typeface="Arial"/>
              </a:rPr>
              <a:t>GPT-3.5 was the first model used in ChatGPT, initiating the current “golden age” of generative artificial intelligence</a:t>
            </a:r>
          </a:p>
          <a:p>
            <a:pPr marL="646374" lvl="2" indent="-215458" algn="l">
              <a:lnSpc>
                <a:spcPts val="2327"/>
              </a:lnSpc>
              <a:buFont typeface="Arial"/>
              <a:buChar char="⚬"/>
            </a:pPr>
            <a:r>
              <a:rPr lang="en-US" sz="1496">
                <a:solidFill>
                  <a:srgbClr val="444444"/>
                </a:solidFill>
                <a:latin typeface="Arial"/>
                <a:ea typeface="Arial"/>
                <a:cs typeface="Arial"/>
                <a:sym typeface="Arial"/>
              </a:rPr>
              <a:t xml:space="preserve">Competitor models released after 2022 are similarly </a:t>
            </a:r>
            <a:r>
              <a:rPr lang="en-US" sz="1496" i="1">
                <a:solidFill>
                  <a:srgbClr val="444444"/>
                </a:solidFill>
                <a:latin typeface="Arial Italics"/>
                <a:ea typeface="Arial Italics"/>
                <a:cs typeface="Arial Italics"/>
                <a:sym typeface="Arial Italics"/>
              </a:rPr>
              <a:t>unbiased</a:t>
            </a:r>
          </a:p>
          <a:p>
            <a:pPr marL="323187" lvl="1" indent="-161593" algn="l">
              <a:lnSpc>
                <a:spcPts val="2328"/>
              </a:lnSpc>
              <a:buFont typeface="Arial"/>
              <a:buChar char="•"/>
            </a:pPr>
            <a:r>
              <a:rPr lang="en-US" sz="1496">
                <a:solidFill>
                  <a:srgbClr val="444444"/>
                </a:solidFill>
                <a:latin typeface="Arial"/>
                <a:ea typeface="Arial"/>
                <a:cs typeface="Arial"/>
                <a:sym typeface="Arial"/>
              </a:rPr>
              <a:t>See an example of a mitigated response: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45764"/>
            <a:ext cx="5878789" cy="1200693"/>
          </a:xfrm>
          <a:prstGeom prst="rect">
            <a:avLst/>
          </a:prstGeom>
        </p:spPr>
        <p:txBody>
          <a:bodyPr lIns="0" tIns="0" rIns="0" bIns="0" rtlCol="0" anchor="t">
            <a:spAutoFit/>
          </a:bodyPr>
          <a:lstStyle/>
          <a:p>
            <a:pPr algn="l">
              <a:lnSpc>
                <a:spcPts val="3271"/>
              </a:lnSpc>
            </a:pPr>
            <a:r>
              <a:rPr lang="en-US" sz="3271" b="1">
                <a:solidFill>
                  <a:srgbClr val="2C3E50"/>
                </a:solidFill>
                <a:latin typeface="Arial Bold"/>
                <a:ea typeface="Arial Bold"/>
                <a:cs typeface="Arial Bold"/>
                <a:sym typeface="Arial Bold"/>
              </a:rPr>
              <a:t>Reverse Biases and How to Mitigate Them</a:t>
            </a:r>
          </a:p>
          <a:p>
            <a:pPr algn="l">
              <a:lnSpc>
                <a:spcPts val="2771"/>
              </a:lnSpc>
            </a:pPr>
            <a:endParaRPr lang="en-US" sz="3271" b="1">
              <a:solidFill>
                <a:srgbClr val="2C3E50"/>
              </a:solidFill>
              <a:latin typeface="Arial Bold"/>
              <a:ea typeface="Arial Bold"/>
              <a:cs typeface="Arial Bold"/>
              <a:sym typeface="Arial Bold"/>
            </a:endParaRPr>
          </a:p>
        </p:txBody>
      </p:sp>
      <p:sp>
        <p:nvSpPr>
          <p:cNvPr id="4" name="TextBox 4"/>
          <p:cNvSpPr txBox="1"/>
          <p:nvPr/>
        </p:nvSpPr>
        <p:spPr>
          <a:xfrm>
            <a:off x="850760" y="1499004"/>
            <a:ext cx="8140840" cy="4372992"/>
          </a:xfrm>
          <a:prstGeom prst="rect">
            <a:avLst/>
          </a:prstGeom>
        </p:spPr>
        <p:txBody>
          <a:bodyPr wrap="square" lIns="0" tIns="0" rIns="0" bIns="0" rtlCol="0" anchor="t">
            <a:spAutoFit/>
          </a:bodyPr>
          <a:lstStyle/>
          <a:p>
            <a:pPr marL="377994" lvl="1" indent="-188997">
              <a:lnSpc>
                <a:spcPts val="2722"/>
              </a:lnSpc>
              <a:buFont typeface="Arial"/>
              <a:buChar char="•"/>
            </a:pPr>
            <a:r>
              <a:rPr lang="en-US" sz="2000" dirty="0">
                <a:solidFill>
                  <a:srgbClr val="444444"/>
                </a:solidFill>
                <a:latin typeface="Arial"/>
                <a:ea typeface="Arial"/>
                <a:cs typeface="Arial"/>
                <a:sym typeface="Arial"/>
              </a:rPr>
              <a:t xml:space="preserve"> “Mitigating Biases in Language Models via Bias Unlearning”, by Liu et al. (2025), explains the risk of reverse biases and proposes a framework for mitigating biases without creating </a:t>
            </a:r>
            <a:r>
              <a:rPr lang="en-US" sz="2000" dirty="0" smtClean="0">
                <a:solidFill>
                  <a:srgbClr val="444444"/>
                </a:solidFill>
                <a:latin typeface="Arial"/>
                <a:ea typeface="Arial"/>
                <a:cs typeface="Arial"/>
                <a:sym typeface="Arial"/>
              </a:rPr>
              <a:t>over-corrections</a:t>
            </a:r>
          </a:p>
          <a:p>
            <a:pPr marL="377994" lvl="1" indent="-188997">
              <a:lnSpc>
                <a:spcPts val="2722"/>
              </a:lnSpc>
              <a:buFont typeface="Arial"/>
              <a:buChar char="•"/>
            </a:pPr>
            <a:endParaRPr lang="en-US" sz="2000" dirty="0">
              <a:solidFill>
                <a:srgbClr val="444444"/>
              </a:solidFill>
              <a:latin typeface="Arial"/>
              <a:ea typeface="Arial"/>
              <a:cs typeface="Arial"/>
              <a:sym typeface="Arial"/>
            </a:endParaRPr>
          </a:p>
          <a:p>
            <a:pPr marL="377994" lvl="1" indent="-188997" algn="l">
              <a:lnSpc>
                <a:spcPts val="2722"/>
              </a:lnSpc>
              <a:buFont typeface="Arial"/>
              <a:buChar char="•"/>
            </a:pPr>
            <a:r>
              <a:rPr lang="en-US" sz="2000" dirty="0" smtClean="0">
                <a:solidFill>
                  <a:srgbClr val="444444"/>
                </a:solidFill>
                <a:latin typeface="Arial"/>
                <a:ea typeface="Arial"/>
                <a:cs typeface="Arial"/>
                <a:sym typeface="Arial"/>
              </a:rPr>
              <a:t xml:space="preserve">The paper discusses </a:t>
            </a:r>
            <a:r>
              <a:rPr lang="en-US" sz="2000" dirty="0">
                <a:solidFill>
                  <a:srgbClr val="444444"/>
                </a:solidFill>
                <a:latin typeface="Arial"/>
                <a:ea typeface="Arial"/>
                <a:cs typeface="Arial"/>
                <a:sym typeface="Arial"/>
              </a:rPr>
              <a:t xml:space="preserve">the differences between positive bias and negative bias: </a:t>
            </a:r>
          </a:p>
          <a:p>
            <a:pPr marL="755989" lvl="2" indent="-251996" algn="l">
              <a:lnSpc>
                <a:spcPts val="2722"/>
              </a:lnSpc>
              <a:buFont typeface="Arial"/>
              <a:buChar char="⚬"/>
            </a:pPr>
            <a:r>
              <a:rPr lang="en-US" sz="2000" dirty="0">
                <a:solidFill>
                  <a:srgbClr val="444444"/>
                </a:solidFill>
                <a:latin typeface="Arial"/>
                <a:ea typeface="Arial"/>
                <a:cs typeface="Arial"/>
                <a:sym typeface="Arial"/>
              </a:rPr>
              <a:t xml:space="preserve">The first occurs when an algorithm systematically favors a group or individual </a:t>
            </a:r>
          </a:p>
          <a:p>
            <a:pPr marL="755989" lvl="2" indent="-251996" algn="l">
              <a:lnSpc>
                <a:spcPts val="2722"/>
              </a:lnSpc>
              <a:buFont typeface="Arial"/>
              <a:buChar char="⚬"/>
            </a:pPr>
            <a:r>
              <a:rPr lang="en-US" sz="2000" dirty="0">
                <a:solidFill>
                  <a:srgbClr val="444444"/>
                </a:solidFill>
                <a:latin typeface="Arial"/>
                <a:ea typeface="Arial"/>
                <a:cs typeface="Arial"/>
                <a:sym typeface="Arial"/>
              </a:rPr>
              <a:t xml:space="preserve">The second corresponds to discrimination against a group. </a:t>
            </a:r>
          </a:p>
          <a:p>
            <a:pPr marL="377994" lvl="1" indent="-188997" algn="l">
              <a:lnSpc>
                <a:spcPts val="2722"/>
              </a:lnSpc>
              <a:buFont typeface="Arial"/>
              <a:buChar char="•"/>
            </a:pPr>
            <a:r>
              <a:rPr lang="en-US" sz="2000" dirty="0">
                <a:solidFill>
                  <a:srgbClr val="444444"/>
                </a:solidFill>
                <a:latin typeface="Arial"/>
                <a:ea typeface="Arial"/>
                <a:cs typeface="Arial"/>
                <a:sym typeface="Arial"/>
              </a:rPr>
              <a:t>The notion of fairness in AI focuses on avoiding negative bias</a:t>
            </a:r>
          </a:p>
          <a:p>
            <a:pPr algn="l">
              <a:lnSpc>
                <a:spcPts val="2722"/>
              </a:lnSpc>
            </a:pPr>
            <a:endParaRPr lang="en-US" sz="1750" dirty="0">
              <a:solidFill>
                <a:srgbClr val="444444"/>
              </a:solidFill>
              <a:latin typeface="Arial"/>
              <a:ea typeface="Arial"/>
              <a:cs typeface="Arial"/>
              <a:sym typeface="Arial"/>
            </a:endParaRPr>
          </a:p>
          <a:p>
            <a:pPr algn="l">
              <a:lnSpc>
                <a:spcPts val="2722"/>
              </a:lnSpc>
            </a:pPr>
            <a:endParaRPr lang="en-US" sz="1750" dirty="0">
              <a:solidFill>
                <a:srgbClr val="444444"/>
              </a:solidFill>
              <a:latin typeface="Arial"/>
              <a:ea typeface="Arial"/>
              <a:cs typeface="Arial"/>
              <a:sym typeface="Arial"/>
            </a:endParaRPr>
          </a:p>
          <a:p>
            <a:pPr algn="l">
              <a:lnSpc>
                <a:spcPts val="1722"/>
              </a:lnSpc>
            </a:pPr>
            <a:endParaRPr lang="en-US" sz="1750" dirty="0">
              <a:solidFill>
                <a:srgbClr val="444444"/>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45764"/>
            <a:ext cx="5878789" cy="791118"/>
          </a:xfrm>
          <a:prstGeom prst="rect">
            <a:avLst/>
          </a:prstGeom>
        </p:spPr>
        <p:txBody>
          <a:bodyPr lIns="0" tIns="0" rIns="0" bIns="0" rtlCol="0" anchor="t">
            <a:spAutoFit/>
          </a:bodyPr>
          <a:lstStyle/>
          <a:p>
            <a:pPr algn="l">
              <a:lnSpc>
                <a:spcPts val="3271"/>
              </a:lnSpc>
            </a:pPr>
            <a:r>
              <a:rPr lang="en-US" sz="3271" b="1">
                <a:solidFill>
                  <a:srgbClr val="2C3E50"/>
                </a:solidFill>
                <a:latin typeface="Arial Bold"/>
                <a:ea typeface="Arial Bold"/>
                <a:cs typeface="Arial Bold"/>
                <a:sym typeface="Arial Bold"/>
              </a:rPr>
              <a:t>Unfair World</a:t>
            </a:r>
          </a:p>
          <a:p>
            <a:pPr algn="l">
              <a:lnSpc>
                <a:spcPts val="2771"/>
              </a:lnSpc>
            </a:pPr>
            <a:endParaRPr lang="en-US" sz="3271" b="1">
              <a:solidFill>
                <a:srgbClr val="2C3E50"/>
              </a:solidFill>
              <a:latin typeface="Arial Bold"/>
              <a:ea typeface="Arial Bold"/>
              <a:cs typeface="Arial Bold"/>
              <a:sym typeface="Arial Bold"/>
            </a:endParaRPr>
          </a:p>
        </p:txBody>
      </p:sp>
      <p:sp>
        <p:nvSpPr>
          <p:cNvPr id="4" name="TextBox 4"/>
          <p:cNvSpPr txBox="1"/>
          <p:nvPr/>
        </p:nvSpPr>
        <p:spPr>
          <a:xfrm>
            <a:off x="603605" y="1153737"/>
            <a:ext cx="8668014" cy="6040115"/>
          </a:xfrm>
          <a:prstGeom prst="rect">
            <a:avLst/>
          </a:prstGeom>
        </p:spPr>
        <p:txBody>
          <a:bodyPr lIns="0" tIns="0" rIns="0" bIns="0" rtlCol="0" anchor="t">
            <a:spAutoFit/>
          </a:bodyPr>
          <a:lstStyle/>
          <a:p>
            <a:pPr algn="l">
              <a:lnSpc>
                <a:spcPts val="2383"/>
              </a:lnSpc>
            </a:pPr>
            <a:endParaRPr dirty="0"/>
          </a:p>
          <a:p>
            <a:pPr marL="330997" lvl="1" indent="-165499" algn="l">
              <a:lnSpc>
                <a:spcPts val="2383"/>
              </a:lnSpc>
              <a:buFont typeface="Arial"/>
              <a:buChar char="•"/>
            </a:pPr>
            <a:r>
              <a:rPr lang="en-US" sz="1533" b="1" dirty="0">
                <a:solidFill>
                  <a:srgbClr val="444444"/>
                </a:solidFill>
                <a:latin typeface="Arial Bold"/>
                <a:ea typeface="Arial Bold"/>
                <a:cs typeface="Arial Bold"/>
                <a:sym typeface="Arial Bold"/>
              </a:rPr>
              <a:t>PROBLEM:</a:t>
            </a:r>
            <a:r>
              <a:rPr lang="en-US" sz="1533" dirty="0">
                <a:solidFill>
                  <a:srgbClr val="444444"/>
                </a:solidFill>
                <a:latin typeface="Arial"/>
                <a:ea typeface="Arial"/>
                <a:cs typeface="Arial"/>
                <a:sym typeface="Arial"/>
              </a:rPr>
              <a:t xml:space="preserve"> women disproportionately hold "low-power" professions (e.g., nursing, secretaries, </a:t>
            </a:r>
            <a:r>
              <a:rPr lang="en-US" sz="1533" dirty="0" smtClean="0">
                <a:solidFill>
                  <a:srgbClr val="444444"/>
                </a:solidFill>
                <a:latin typeface="Arial"/>
                <a:ea typeface="Arial"/>
                <a:cs typeface="Arial"/>
                <a:sym typeface="Arial"/>
              </a:rPr>
              <a:t xml:space="preserve">maids). </a:t>
            </a:r>
            <a:r>
              <a:rPr lang="en-US" sz="1533" dirty="0">
                <a:solidFill>
                  <a:srgbClr val="444444"/>
                </a:solidFill>
                <a:latin typeface="Arial"/>
                <a:ea typeface="Arial"/>
                <a:cs typeface="Arial"/>
                <a:sym typeface="Arial"/>
              </a:rPr>
              <a:t>We have a calibration error. Should we force neutrality?</a:t>
            </a:r>
          </a:p>
          <a:p>
            <a:pPr marL="661995" lvl="2" indent="-220665" algn="l">
              <a:lnSpc>
                <a:spcPts val="2383"/>
              </a:lnSpc>
              <a:buFont typeface="Arial"/>
              <a:buChar char="⚬"/>
            </a:pPr>
            <a:r>
              <a:rPr lang="en-US" sz="1533" dirty="0" smtClean="0">
                <a:solidFill>
                  <a:srgbClr val="444444"/>
                </a:solidFill>
                <a:latin typeface="Arial"/>
                <a:ea typeface="Arial"/>
                <a:cs typeface="Arial"/>
                <a:sym typeface="Arial"/>
              </a:rPr>
              <a:t xml:space="preserve">According to our research, modern GPT </a:t>
            </a:r>
            <a:r>
              <a:rPr lang="en-US" sz="1533" dirty="0">
                <a:solidFill>
                  <a:srgbClr val="444444"/>
                </a:solidFill>
                <a:latin typeface="Arial"/>
                <a:ea typeface="Arial"/>
                <a:cs typeface="Arial"/>
                <a:sym typeface="Arial"/>
              </a:rPr>
              <a:t xml:space="preserve">models </a:t>
            </a:r>
            <a:r>
              <a:rPr lang="en-US" sz="1533" dirty="0" smtClean="0">
                <a:solidFill>
                  <a:srgbClr val="444444"/>
                </a:solidFill>
                <a:latin typeface="Arial"/>
                <a:ea typeface="Arial"/>
                <a:cs typeface="Arial"/>
                <a:sym typeface="Arial"/>
              </a:rPr>
              <a:t xml:space="preserve">say </a:t>
            </a:r>
            <a:r>
              <a:rPr lang="en-US" sz="1533" dirty="0">
                <a:solidFill>
                  <a:srgbClr val="444444"/>
                </a:solidFill>
                <a:latin typeface="Arial"/>
                <a:ea typeface="Arial"/>
                <a:cs typeface="Arial"/>
                <a:sym typeface="Arial"/>
              </a:rPr>
              <a:t>yes</a:t>
            </a:r>
            <a:r>
              <a:rPr lang="en-US" sz="1533" dirty="0" smtClean="0">
                <a:solidFill>
                  <a:srgbClr val="444444"/>
                </a:solidFill>
                <a:latin typeface="Arial"/>
                <a:ea typeface="Arial"/>
                <a:cs typeface="Arial"/>
                <a:sym typeface="Arial"/>
              </a:rPr>
              <a:t>. In our tests, the gender of powerful roles is evenly distributed between males and females, even if that is not the case in the real world.</a:t>
            </a:r>
          </a:p>
          <a:p>
            <a:pPr marL="661995" lvl="2" indent="-220665" algn="l">
              <a:lnSpc>
                <a:spcPts val="2383"/>
              </a:lnSpc>
              <a:buFont typeface="Arial"/>
              <a:buChar char="⚬"/>
            </a:pPr>
            <a:r>
              <a:rPr lang="en-US" sz="1533" dirty="0" smtClean="0">
                <a:solidFill>
                  <a:srgbClr val="444444"/>
                </a:solidFill>
                <a:latin typeface="Arial"/>
                <a:ea typeface="Arial"/>
                <a:cs typeface="Arial"/>
                <a:sym typeface="Arial"/>
              </a:rPr>
              <a:t xml:space="preserve">But </a:t>
            </a:r>
            <a:r>
              <a:rPr lang="en-US" sz="1533" dirty="0">
                <a:solidFill>
                  <a:srgbClr val="444444"/>
                </a:solidFill>
                <a:latin typeface="Arial"/>
                <a:ea typeface="Arial"/>
                <a:cs typeface="Arial"/>
                <a:sym typeface="Arial"/>
              </a:rPr>
              <a:t xml:space="preserve">the same work was not done for </a:t>
            </a:r>
            <a:r>
              <a:rPr lang="en-US" sz="1533" dirty="0" smtClean="0">
                <a:solidFill>
                  <a:srgbClr val="444444"/>
                </a:solidFill>
                <a:latin typeface="Arial"/>
                <a:ea typeface="Arial"/>
                <a:cs typeface="Arial"/>
                <a:sym typeface="Arial"/>
              </a:rPr>
              <a:t>"</a:t>
            </a:r>
            <a:r>
              <a:rPr lang="en-US" sz="1533" dirty="0">
                <a:solidFill>
                  <a:srgbClr val="444444"/>
                </a:solidFill>
                <a:latin typeface="Arial"/>
                <a:ea typeface="Arial"/>
                <a:cs typeface="Arial"/>
                <a:sym typeface="Arial"/>
              </a:rPr>
              <a:t xml:space="preserve">low-power" </a:t>
            </a:r>
            <a:r>
              <a:rPr lang="en-US" sz="1533" dirty="0" smtClean="0">
                <a:solidFill>
                  <a:srgbClr val="444444"/>
                </a:solidFill>
                <a:latin typeface="Arial"/>
                <a:ea typeface="Arial"/>
                <a:cs typeface="Arial"/>
                <a:sym typeface="Arial"/>
              </a:rPr>
              <a:t>professions: generated “blue-collar workers” in our tests were males in over 95% of the generated stories and similarly over 95% of generated “secretary” professionals were female</a:t>
            </a:r>
            <a:endParaRPr lang="en-US" sz="1533" dirty="0">
              <a:solidFill>
                <a:srgbClr val="444444"/>
              </a:solidFill>
              <a:latin typeface="Arial"/>
              <a:ea typeface="Arial"/>
              <a:cs typeface="Arial"/>
              <a:sym typeface="Arial"/>
            </a:endParaRPr>
          </a:p>
          <a:p>
            <a:pPr algn="l">
              <a:lnSpc>
                <a:spcPts val="2383"/>
              </a:lnSpc>
            </a:pPr>
            <a:endParaRPr lang="en-US" sz="1533" dirty="0">
              <a:solidFill>
                <a:srgbClr val="444444"/>
              </a:solidFill>
              <a:latin typeface="Arial"/>
              <a:ea typeface="Arial"/>
              <a:cs typeface="Arial"/>
              <a:sym typeface="Arial"/>
            </a:endParaRPr>
          </a:p>
          <a:p>
            <a:pPr marL="330997" lvl="1" indent="-165499" algn="l">
              <a:lnSpc>
                <a:spcPts val="2383"/>
              </a:lnSpc>
              <a:buFont typeface="Arial"/>
              <a:buChar char="•"/>
            </a:pPr>
            <a:r>
              <a:rPr lang="en-US" sz="1533" dirty="0">
                <a:solidFill>
                  <a:srgbClr val="444444"/>
                </a:solidFill>
                <a:latin typeface="Arial"/>
                <a:ea typeface="Arial"/>
                <a:cs typeface="Arial"/>
                <a:sym typeface="Arial"/>
              </a:rPr>
              <a:t xml:space="preserve">In “Evaluating Gender, Racial, and Age Biases in Large Language Models: A Comparative Analysis of Occupational and Crime Scenarios” Mirza et al. (2025) </a:t>
            </a:r>
            <a:r>
              <a:rPr lang="en-US" sz="1533" dirty="0" smtClean="0">
                <a:solidFill>
                  <a:srgbClr val="444444"/>
                </a:solidFill>
                <a:latin typeface="Arial"/>
                <a:ea typeface="Arial"/>
                <a:cs typeface="Arial"/>
                <a:sym typeface="Arial"/>
              </a:rPr>
              <a:t xml:space="preserve">shows </a:t>
            </a:r>
            <a:r>
              <a:rPr lang="en-US" sz="1533" dirty="0">
                <a:solidFill>
                  <a:srgbClr val="444444"/>
                </a:solidFill>
                <a:latin typeface="Arial"/>
                <a:ea typeface="Arial"/>
                <a:cs typeface="Arial"/>
                <a:sym typeface="Arial"/>
              </a:rPr>
              <a:t xml:space="preserve">that </a:t>
            </a:r>
          </a:p>
          <a:p>
            <a:pPr marL="661995" lvl="2" indent="-220665" algn="l">
              <a:lnSpc>
                <a:spcPts val="2383"/>
              </a:lnSpc>
              <a:buFont typeface="Arial"/>
              <a:buChar char="⚬"/>
            </a:pPr>
            <a:r>
              <a:rPr lang="en-US" sz="1533" dirty="0">
                <a:solidFill>
                  <a:srgbClr val="444444"/>
                </a:solidFill>
                <a:latin typeface="Arial"/>
                <a:ea typeface="Arial"/>
                <a:cs typeface="Arial"/>
                <a:sym typeface="Arial"/>
              </a:rPr>
              <a:t>Female characters are overrepresented in professions when compared to real data</a:t>
            </a:r>
          </a:p>
          <a:p>
            <a:pPr marL="661995" lvl="2" indent="-220665" algn="l">
              <a:lnSpc>
                <a:spcPts val="2383"/>
              </a:lnSpc>
              <a:buFont typeface="Arial"/>
              <a:buChar char="⚬"/>
            </a:pPr>
            <a:r>
              <a:rPr lang="en-US" sz="1533" dirty="0">
                <a:solidFill>
                  <a:srgbClr val="444444"/>
                </a:solidFill>
                <a:latin typeface="Arial"/>
                <a:ea typeface="Arial"/>
                <a:cs typeface="Arial"/>
                <a:sym typeface="Arial"/>
              </a:rPr>
              <a:t xml:space="preserve">In crime scenarios, Black individuals are </a:t>
            </a:r>
            <a:r>
              <a:rPr lang="en-US" sz="1533" dirty="0" smtClean="0">
                <a:solidFill>
                  <a:srgbClr val="444444"/>
                </a:solidFill>
                <a:latin typeface="Arial"/>
                <a:ea typeface="Arial"/>
                <a:cs typeface="Arial"/>
                <a:sym typeface="Arial"/>
              </a:rPr>
              <a:t>underrepresented when compared to real data</a:t>
            </a:r>
            <a:endParaRPr lang="en-US" sz="1533" dirty="0">
              <a:solidFill>
                <a:srgbClr val="444444"/>
              </a:solidFill>
              <a:latin typeface="Arial"/>
              <a:ea typeface="Arial"/>
              <a:cs typeface="Arial"/>
              <a:sym typeface="Arial"/>
            </a:endParaRPr>
          </a:p>
          <a:p>
            <a:pPr marL="661995" lvl="2" indent="-220665" algn="l">
              <a:lnSpc>
                <a:spcPts val="2383"/>
              </a:lnSpc>
              <a:buFont typeface="Arial"/>
              <a:buChar char="⚬"/>
            </a:pPr>
            <a:r>
              <a:rPr lang="en-US" sz="1533" dirty="0" smtClean="0">
                <a:solidFill>
                  <a:srgbClr val="444444"/>
                </a:solidFill>
                <a:latin typeface="Arial"/>
                <a:ea typeface="Arial"/>
                <a:cs typeface="Arial"/>
                <a:sym typeface="Arial"/>
              </a:rPr>
              <a:t xml:space="preserve">In </a:t>
            </a:r>
            <a:r>
              <a:rPr lang="en-US" sz="1533" dirty="0">
                <a:solidFill>
                  <a:srgbClr val="444444"/>
                </a:solidFill>
                <a:latin typeface="Arial"/>
                <a:ea typeface="Arial"/>
                <a:cs typeface="Arial"/>
                <a:sym typeface="Arial"/>
              </a:rPr>
              <a:t xml:space="preserve">reality, these differences exist due to confounding factors (especially structural and historical discrimination), not due to a direct relationship (minorities and women being less qualified). </a:t>
            </a:r>
            <a:r>
              <a:rPr lang="en-US" sz="1533" dirty="0" err="1">
                <a:solidFill>
                  <a:srgbClr val="444444"/>
                </a:solidFill>
                <a:latin typeface="Arial"/>
                <a:ea typeface="Arial"/>
                <a:cs typeface="Arial"/>
                <a:sym typeface="Arial"/>
              </a:rPr>
              <a:t>Nisbett</a:t>
            </a:r>
            <a:r>
              <a:rPr lang="en-US" sz="1533" dirty="0">
                <a:solidFill>
                  <a:srgbClr val="444444"/>
                </a:solidFill>
                <a:latin typeface="Arial"/>
                <a:ea typeface="Arial"/>
                <a:cs typeface="Arial"/>
                <a:sym typeface="Arial"/>
              </a:rPr>
              <a:t xml:space="preserve"> (2012)</a:t>
            </a:r>
          </a:p>
          <a:p>
            <a:pPr algn="l">
              <a:lnSpc>
                <a:spcPts val="2383"/>
              </a:lnSpc>
            </a:pPr>
            <a:endParaRPr lang="en-US" sz="1533" dirty="0">
              <a:solidFill>
                <a:srgbClr val="444444"/>
              </a:solidFill>
              <a:latin typeface="Arial"/>
              <a:ea typeface="Arial"/>
              <a:cs typeface="Arial"/>
              <a:sym typeface="Arial"/>
            </a:endParaRPr>
          </a:p>
          <a:p>
            <a:pPr algn="l">
              <a:lnSpc>
                <a:spcPts val="2383"/>
              </a:lnSpc>
            </a:pPr>
            <a:endParaRPr lang="en-US" sz="1533" dirty="0">
              <a:solidFill>
                <a:srgbClr val="444444"/>
              </a:solidFill>
              <a:latin typeface="Arial"/>
              <a:ea typeface="Arial"/>
              <a:cs typeface="Arial"/>
              <a:sym typeface="Arial"/>
            </a:endParaRPr>
          </a:p>
          <a:p>
            <a:pPr algn="l">
              <a:lnSpc>
                <a:spcPts val="1508"/>
              </a:lnSpc>
            </a:pPr>
            <a:endParaRPr lang="en-US" sz="1533" dirty="0">
              <a:solidFill>
                <a:srgbClr val="444444"/>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878789" cy="1033688"/>
          </a:xfrm>
          <a:prstGeom prst="rect">
            <a:avLst/>
          </a:prstGeom>
        </p:spPr>
        <p:txBody>
          <a:bodyPr lIns="0" tIns="0" rIns="0" bIns="0" rtlCol="0" anchor="t">
            <a:spAutoFit/>
          </a:bodyPr>
          <a:lstStyle/>
          <a:p>
            <a:pPr algn="l">
              <a:lnSpc>
                <a:spcPts val="3271"/>
              </a:lnSpc>
            </a:pPr>
            <a:r>
              <a:rPr lang="en-US" sz="3271" b="1" dirty="0">
                <a:solidFill>
                  <a:srgbClr val="2C3E50"/>
                </a:solidFill>
                <a:latin typeface="Arial Bold"/>
                <a:ea typeface="Arial Bold"/>
                <a:cs typeface="Arial Bold"/>
                <a:sym typeface="Arial Bold"/>
              </a:rPr>
              <a:t xml:space="preserve">More Human Than Human: </a:t>
            </a:r>
          </a:p>
          <a:p>
            <a:pPr algn="l">
              <a:lnSpc>
                <a:spcPts val="2371"/>
              </a:lnSpc>
            </a:pPr>
            <a:r>
              <a:rPr lang="en-US" sz="2371" b="1" dirty="0">
                <a:solidFill>
                  <a:srgbClr val="2C3E50"/>
                </a:solidFill>
                <a:latin typeface="Arial Bold"/>
                <a:ea typeface="Arial Bold"/>
                <a:cs typeface="Arial Bold"/>
                <a:sym typeface="Arial Bold"/>
              </a:rPr>
              <a:t xml:space="preserve">Motoki, Rodrigues &amp; </a:t>
            </a:r>
            <a:r>
              <a:rPr lang="en-US" sz="2371" b="1" dirty="0" err="1">
                <a:solidFill>
                  <a:srgbClr val="2C3E50"/>
                </a:solidFill>
                <a:latin typeface="Arial Bold"/>
                <a:ea typeface="Arial Bold"/>
                <a:cs typeface="Arial Bold"/>
                <a:sym typeface="Arial Bold"/>
              </a:rPr>
              <a:t>Neto</a:t>
            </a:r>
            <a:r>
              <a:rPr lang="en-US" sz="2371" b="1" dirty="0">
                <a:solidFill>
                  <a:srgbClr val="2C3E50"/>
                </a:solidFill>
                <a:latin typeface="Arial Bold"/>
                <a:ea typeface="Arial Bold"/>
                <a:cs typeface="Arial Bold"/>
                <a:sym typeface="Arial Bold"/>
              </a:rPr>
              <a:t xml:space="preserve"> (</a:t>
            </a:r>
            <a:r>
              <a:rPr lang="en-US" sz="2371" b="1" dirty="0" smtClean="0">
                <a:solidFill>
                  <a:srgbClr val="2C3E50"/>
                </a:solidFill>
                <a:latin typeface="Arial Bold"/>
                <a:ea typeface="Arial Bold"/>
                <a:cs typeface="Arial Bold"/>
                <a:sym typeface="Arial Bold"/>
              </a:rPr>
              <a:t xml:space="preserve">2023) &amp; objectives </a:t>
            </a:r>
            <a:r>
              <a:rPr lang="en-US" sz="2371" b="1" dirty="0">
                <a:solidFill>
                  <a:srgbClr val="2C3E50"/>
                </a:solidFill>
                <a:latin typeface="Arial Bold"/>
                <a:ea typeface="Arial Bold"/>
                <a:cs typeface="Arial Bold"/>
                <a:sym typeface="Arial Bold"/>
              </a:rPr>
              <a:t>of the present study</a:t>
            </a:r>
          </a:p>
        </p:txBody>
      </p:sp>
      <p:sp>
        <p:nvSpPr>
          <p:cNvPr id="4" name="TextBox 4"/>
          <p:cNvSpPr txBox="1"/>
          <p:nvPr/>
        </p:nvSpPr>
        <p:spPr>
          <a:xfrm>
            <a:off x="731520" y="2068362"/>
            <a:ext cx="8366874" cy="3334246"/>
          </a:xfrm>
          <a:prstGeom prst="rect">
            <a:avLst/>
          </a:prstGeom>
        </p:spPr>
        <p:txBody>
          <a:bodyPr lIns="0" tIns="0" rIns="0" bIns="0" rtlCol="0" anchor="t">
            <a:spAutoFit/>
          </a:bodyPr>
          <a:lstStyle/>
          <a:p>
            <a:pPr marL="399039" lvl="1" indent="-199519" algn="l">
              <a:lnSpc>
                <a:spcPts val="2572"/>
              </a:lnSpc>
              <a:buFont typeface="Arial"/>
              <a:buChar char="•"/>
            </a:pPr>
            <a:r>
              <a:rPr lang="en-US" sz="1654" dirty="0">
                <a:solidFill>
                  <a:srgbClr val="444444"/>
                </a:solidFill>
                <a:latin typeface="Arial"/>
                <a:ea typeface="Arial"/>
                <a:cs typeface="Arial"/>
                <a:sym typeface="Arial"/>
              </a:rPr>
              <a:t>Like humans, language models deny having biases when directly confronted</a:t>
            </a:r>
          </a:p>
          <a:p>
            <a:pPr marL="399039" lvl="1" indent="-199519" algn="l">
              <a:lnSpc>
                <a:spcPts val="2572"/>
              </a:lnSpc>
              <a:buFont typeface="Arial"/>
              <a:buChar char="•"/>
            </a:pPr>
            <a:r>
              <a:rPr lang="en-US" sz="1654" dirty="0">
                <a:solidFill>
                  <a:srgbClr val="444444"/>
                </a:solidFill>
                <a:latin typeface="Arial"/>
                <a:ea typeface="Arial"/>
                <a:cs typeface="Arial"/>
                <a:sym typeface="Arial"/>
              </a:rPr>
              <a:t>Therefore, it is important to find ways to measure implicit biases in language models</a:t>
            </a:r>
          </a:p>
          <a:p>
            <a:pPr marL="399039" lvl="1" indent="-199519" algn="l">
              <a:lnSpc>
                <a:spcPts val="2572"/>
              </a:lnSpc>
              <a:buFont typeface="Arial"/>
              <a:buChar char="•"/>
            </a:pPr>
            <a:r>
              <a:rPr lang="en-US" sz="1654" dirty="0" smtClean="0">
                <a:solidFill>
                  <a:srgbClr val="444444"/>
                </a:solidFill>
                <a:latin typeface="Arial"/>
                <a:ea typeface="Arial"/>
                <a:cs typeface="Arial"/>
                <a:sym typeface="Arial"/>
              </a:rPr>
              <a:t xml:space="preserve">Expanding on the 2023 study, the </a:t>
            </a:r>
            <a:r>
              <a:rPr lang="en-US" sz="1654" dirty="0">
                <a:solidFill>
                  <a:srgbClr val="444444"/>
                </a:solidFill>
                <a:latin typeface="Arial"/>
                <a:ea typeface="Arial"/>
                <a:cs typeface="Arial"/>
                <a:sym typeface="Arial"/>
              </a:rPr>
              <a:t xml:space="preserve">present study aims to measure gender bias in the context of the labor market in newer models (from the GPT-4 and GPT-5 families) </a:t>
            </a:r>
          </a:p>
          <a:p>
            <a:pPr marL="399039" lvl="1" indent="-199519" algn="l">
              <a:lnSpc>
                <a:spcPts val="2572"/>
              </a:lnSpc>
              <a:buFont typeface="Arial"/>
              <a:buChar char="•"/>
            </a:pPr>
            <a:r>
              <a:rPr lang="en-US" sz="1654" dirty="0" smtClean="0">
                <a:solidFill>
                  <a:srgbClr val="444444"/>
                </a:solidFill>
                <a:latin typeface="Arial"/>
                <a:ea typeface="Arial"/>
                <a:cs typeface="Arial"/>
                <a:sym typeface="Arial"/>
              </a:rPr>
              <a:t xml:space="preserve">We do so by evaluating </a:t>
            </a:r>
            <a:r>
              <a:rPr lang="en-US" sz="1654" dirty="0">
                <a:solidFill>
                  <a:srgbClr val="444444"/>
                </a:solidFill>
                <a:latin typeface="Arial"/>
                <a:ea typeface="Arial"/>
                <a:cs typeface="Arial"/>
                <a:sym typeface="Arial"/>
              </a:rPr>
              <a:t>the gender of characters generated in three tests:</a:t>
            </a:r>
          </a:p>
          <a:p>
            <a:pPr marL="714445" lvl="2" indent="-238148" algn="l">
              <a:lnSpc>
                <a:spcPts val="2572"/>
              </a:lnSpc>
              <a:buFont typeface="Arial"/>
              <a:buChar char="⚬"/>
            </a:pPr>
            <a:r>
              <a:rPr lang="en-US" sz="1654" dirty="0">
                <a:solidFill>
                  <a:srgbClr val="444444"/>
                </a:solidFill>
                <a:latin typeface="Arial"/>
                <a:ea typeface="Arial"/>
                <a:cs typeface="Arial"/>
                <a:sym typeface="Arial"/>
              </a:rPr>
              <a:t xml:space="preserve">An employee is called to their boss's office to receive </a:t>
            </a:r>
            <a:r>
              <a:rPr lang="en-US" sz="1654" b="1" dirty="0">
                <a:solidFill>
                  <a:srgbClr val="444444"/>
                </a:solidFill>
                <a:latin typeface="Arial Bold"/>
                <a:ea typeface="Arial Bold"/>
                <a:cs typeface="Arial Bold"/>
                <a:sym typeface="Arial Bold"/>
              </a:rPr>
              <a:t xml:space="preserve">feedback </a:t>
            </a:r>
            <a:r>
              <a:rPr lang="en-US" sz="1654" dirty="0">
                <a:solidFill>
                  <a:srgbClr val="444444"/>
                </a:solidFill>
                <a:latin typeface="Arial"/>
                <a:ea typeface="Arial"/>
                <a:cs typeface="Arial"/>
                <a:sym typeface="Arial"/>
              </a:rPr>
              <a:t>positive or negative (valence).</a:t>
            </a:r>
          </a:p>
          <a:p>
            <a:pPr marL="714445" lvl="2" indent="-238148" algn="l">
              <a:lnSpc>
                <a:spcPts val="2572"/>
              </a:lnSpc>
              <a:buFont typeface="Arial"/>
              <a:buChar char="⚬"/>
            </a:pPr>
            <a:r>
              <a:rPr lang="en-US" sz="1654" dirty="0">
                <a:solidFill>
                  <a:srgbClr val="444444"/>
                </a:solidFill>
                <a:latin typeface="Arial"/>
                <a:ea typeface="Arial"/>
                <a:cs typeface="Arial"/>
                <a:sym typeface="Arial"/>
              </a:rPr>
              <a:t xml:space="preserve">An employee possesses – or lacks – a </a:t>
            </a:r>
            <a:r>
              <a:rPr lang="en-US" sz="1654" b="1" dirty="0">
                <a:solidFill>
                  <a:srgbClr val="444444"/>
                </a:solidFill>
                <a:latin typeface="Arial Bold"/>
                <a:ea typeface="Arial Bold"/>
                <a:cs typeface="Arial Bold"/>
                <a:sym typeface="Arial Bold"/>
              </a:rPr>
              <a:t xml:space="preserve">quality </a:t>
            </a:r>
            <a:r>
              <a:rPr lang="en-US" sz="1654" dirty="0">
                <a:solidFill>
                  <a:srgbClr val="444444"/>
                </a:solidFill>
                <a:latin typeface="Arial"/>
                <a:ea typeface="Arial"/>
                <a:cs typeface="Arial"/>
                <a:sym typeface="Arial"/>
              </a:rPr>
              <a:t>important in the labor market</a:t>
            </a:r>
          </a:p>
          <a:p>
            <a:pPr marL="714445" lvl="2" indent="-238148" algn="l">
              <a:lnSpc>
                <a:spcPts val="2573"/>
              </a:lnSpc>
              <a:buFont typeface="Arial"/>
              <a:buChar char="⚬"/>
            </a:pPr>
            <a:r>
              <a:rPr lang="en-US" sz="1654" dirty="0">
                <a:solidFill>
                  <a:srgbClr val="444444"/>
                </a:solidFill>
                <a:latin typeface="Arial"/>
                <a:ea typeface="Arial"/>
                <a:cs typeface="Arial"/>
                <a:sym typeface="Arial"/>
              </a:rPr>
              <a:t xml:space="preserve">An employee in a given </a:t>
            </a:r>
            <a:r>
              <a:rPr lang="en-US" sz="1654" b="1" dirty="0">
                <a:solidFill>
                  <a:srgbClr val="444444"/>
                </a:solidFill>
                <a:latin typeface="Arial Bold"/>
                <a:ea typeface="Arial Bold"/>
                <a:cs typeface="Arial Bold"/>
                <a:sym typeface="Arial Bold"/>
              </a:rPr>
              <a:t>profession</a:t>
            </a:r>
            <a:r>
              <a:rPr lang="en-US" sz="1654" dirty="0">
                <a:solidFill>
                  <a:srgbClr val="444444"/>
                </a:solidFill>
                <a:latin typeface="Arial"/>
                <a:ea typeface="Arial"/>
                <a:cs typeface="Arial"/>
                <a:sym typeface="Arial"/>
              </a:rPr>
              <a:t>, at different power levels, starts a new project at their company</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52560" y="1691764"/>
            <a:ext cx="6872240" cy="1737236"/>
          </a:xfrm>
          <a:custGeom>
            <a:avLst/>
            <a:gdLst/>
            <a:ahLst/>
            <a:cxnLst/>
            <a:rect l="l" t="t" r="r" b="b"/>
            <a:pathLst>
              <a:path w="5676989" h="1335213">
                <a:moveTo>
                  <a:pt x="0" y="0"/>
                </a:moveTo>
                <a:lnTo>
                  <a:pt x="5676989" y="0"/>
                </a:lnTo>
                <a:lnTo>
                  <a:pt x="5676989" y="1335212"/>
                </a:lnTo>
                <a:lnTo>
                  <a:pt x="0" y="1335212"/>
                </a:lnTo>
                <a:lnTo>
                  <a:pt x="0" y="0"/>
                </a:lnTo>
                <a:close/>
              </a:path>
            </a:pathLst>
          </a:custGeom>
          <a:blipFill>
            <a:blip r:embed="rId3"/>
            <a:stretch>
              <a:fillRect/>
            </a:stretch>
          </a:blipFill>
        </p:spPr>
        <p:txBody>
          <a:bodyPr/>
          <a:lstStyle/>
          <a:p>
            <a:endParaRPr/>
          </a:p>
        </p:txBody>
      </p:sp>
      <p:sp>
        <p:nvSpPr>
          <p:cNvPr id="4" name="Freeform 4"/>
          <p:cNvSpPr/>
          <p:nvPr/>
        </p:nvSpPr>
        <p:spPr>
          <a:xfrm>
            <a:off x="379652" y="3744846"/>
            <a:ext cx="9309090" cy="2675496"/>
          </a:xfrm>
          <a:custGeom>
            <a:avLst/>
            <a:gdLst/>
            <a:ahLst/>
            <a:cxnLst/>
            <a:rect l="l" t="t" r="r" b="b"/>
            <a:pathLst>
              <a:path w="9309090" h="2675496">
                <a:moveTo>
                  <a:pt x="0" y="0"/>
                </a:moveTo>
                <a:lnTo>
                  <a:pt x="9309090" y="0"/>
                </a:lnTo>
                <a:lnTo>
                  <a:pt x="9309090" y="2675496"/>
                </a:lnTo>
                <a:lnTo>
                  <a:pt x="0" y="2675496"/>
                </a:lnTo>
                <a:lnTo>
                  <a:pt x="0" y="0"/>
                </a:lnTo>
                <a:close/>
              </a:path>
            </a:pathLst>
          </a:custGeom>
          <a:blipFill>
            <a:blip r:embed="rId4"/>
            <a:stretch>
              <a:fillRect t="-183" b="-183"/>
            </a:stretch>
          </a:blipFill>
        </p:spPr>
        <p:txBody>
          <a:bodyPr/>
          <a:lstStyle/>
          <a:p>
            <a:endParaRPr/>
          </a:p>
        </p:txBody>
      </p:sp>
      <p:sp>
        <p:nvSpPr>
          <p:cNvPr id="5" name="TextBox 5"/>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 xml:space="preserve">Test I Results: FEEDBACK </a:t>
            </a:r>
          </a:p>
        </p:txBody>
      </p:sp>
      <p:sp>
        <p:nvSpPr>
          <p:cNvPr id="6" name="TextBox 6"/>
          <p:cNvSpPr txBox="1"/>
          <p:nvPr/>
        </p:nvSpPr>
        <p:spPr>
          <a:xfrm>
            <a:off x="850760" y="1222655"/>
            <a:ext cx="8366874" cy="325337"/>
          </a:xfrm>
          <a:prstGeom prst="rect">
            <a:avLst/>
          </a:prstGeom>
        </p:spPr>
        <p:txBody>
          <a:bodyPr lIns="0" tIns="0" rIns="0" bIns="0" rtlCol="0" anchor="t">
            <a:spAutoFit/>
          </a:bodyPr>
          <a:lstStyle/>
          <a:p>
            <a:pPr marL="399039" lvl="1" indent="-199519" algn="l">
              <a:lnSpc>
                <a:spcPts val="2573"/>
              </a:lnSpc>
              <a:buFont typeface="Arial"/>
              <a:buChar char="•"/>
            </a:pPr>
            <a:r>
              <a:rPr lang="en-US" sz="1654" b="1">
                <a:solidFill>
                  <a:srgbClr val="444444"/>
                </a:solidFill>
                <a:latin typeface="Arial Bold"/>
                <a:ea typeface="Arial Bold"/>
                <a:cs typeface="Arial Bold"/>
                <a:sym typeface="Arial Bold"/>
              </a:rPr>
              <a:t>Simple Regression</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980416" y="1904760"/>
            <a:ext cx="8444709" cy="2160275"/>
          </a:xfrm>
          <a:custGeom>
            <a:avLst/>
            <a:gdLst/>
            <a:ahLst/>
            <a:cxnLst/>
            <a:rect l="l" t="t" r="r" b="b"/>
            <a:pathLst>
              <a:path w="8444709" h="2160275">
                <a:moveTo>
                  <a:pt x="0" y="0"/>
                </a:moveTo>
                <a:lnTo>
                  <a:pt x="8444710" y="0"/>
                </a:lnTo>
                <a:lnTo>
                  <a:pt x="8444710" y="2160274"/>
                </a:lnTo>
                <a:lnTo>
                  <a:pt x="0" y="2160274"/>
                </a:lnTo>
                <a:lnTo>
                  <a:pt x="0" y="0"/>
                </a:lnTo>
                <a:close/>
              </a:path>
            </a:pathLst>
          </a:custGeom>
          <a:blipFill>
            <a:blip r:embed="rId4"/>
            <a:stretch>
              <a:fillRect/>
            </a:stretch>
          </a:blipFill>
        </p:spPr>
        <p:txBody>
          <a:bodyPr/>
          <a:lstStyle/>
          <a:p>
            <a:endParaRPr/>
          </a:p>
        </p:txBody>
      </p:sp>
      <p:graphicFrame>
        <p:nvGraphicFramePr>
          <p:cNvPr id="4" name="Object 4"/>
          <p:cNvGraphicFramePr/>
          <p:nvPr>
            <p:extLst>
              <p:ext uri="{D42A27DB-BD31-4B8C-83A1-F6EECF244321}">
                <p14:modId xmlns:p14="http://schemas.microsoft.com/office/powerpoint/2010/main" val="121188001"/>
              </p:ext>
            </p:extLst>
          </p:nvPr>
        </p:nvGraphicFramePr>
        <p:xfrm>
          <a:off x="12666" y="3352641"/>
          <a:ext cx="11036334" cy="4770611"/>
        </p:xfrm>
        <a:graphic>
          <a:graphicData uri="http://schemas.openxmlformats.org/presentationml/2006/ole">
            <mc:AlternateContent xmlns:mc="http://schemas.openxmlformats.org/markup-compatibility/2006">
              <mc:Choice xmlns:v="urn:schemas-microsoft-com:vml" Requires="v">
                <p:oleObj spid="_x0000_s1031" name="Worksheet" r:id="rId5" imgW="12534900" imgH="3759200" progId="Excel.Sheet.12">
                  <p:embed/>
                </p:oleObj>
              </mc:Choice>
              <mc:Fallback>
                <p:oleObj name="Worksheet" r:id="rId5" imgW="12534900" imgH="3759200" progId="Excel.Sheet.12">
                  <p:embed/>
                  <p:pic>
                    <p:nvPicPr>
                      <p:cNvPr id="0" name=""/>
                      <p:cNvPicPr/>
                      <p:nvPr/>
                    </p:nvPicPr>
                    <p:blipFill>
                      <a:blip r:embed="rId6"/>
                      <a:stretch>
                        <a:fillRect/>
                      </a:stretch>
                    </p:blipFill>
                    <p:spPr>
                      <a:xfrm>
                        <a:off x="12666" y="3352641"/>
                        <a:ext cx="11036334" cy="4770611"/>
                      </a:xfrm>
                      <a:prstGeom prst="rect">
                        <a:avLst/>
                      </a:prstGeom>
                    </p:spPr>
                  </p:pic>
                </p:oleObj>
              </mc:Fallback>
            </mc:AlternateContent>
          </a:graphicData>
        </a:graphic>
      </p:graphicFrame>
      <p:sp>
        <p:nvSpPr>
          <p:cNvPr id="5" name="TextBox 5"/>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 xml:space="preserve">Test I Results: FEEDBACK </a:t>
            </a:r>
          </a:p>
        </p:txBody>
      </p:sp>
      <p:sp>
        <p:nvSpPr>
          <p:cNvPr id="6" name="TextBox 6"/>
          <p:cNvSpPr txBox="1"/>
          <p:nvPr/>
        </p:nvSpPr>
        <p:spPr>
          <a:xfrm>
            <a:off x="850760" y="1150798"/>
            <a:ext cx="8366874" cy="325337"/>
          </a:xfrm>
          <a:prstGeom prst="rect">
            <a:avLst/>
          </a:prstGeom>
        </p:spPr>
        <p:txBody>
          <a:bodyPr lIns="0" tIns="0" rIns="0" bIns="0" rtlCol="0" anchor="t">
            <a:spAutoFit/>
          </a:bodyPr>
          <a:lstStyle/>
          <a:p>
            <a:pPr marL="399039" lvl="1" indent="-199519" algn="l">
              <a:lnSpc>
                <a:spcPts val="2573"/>
              </a:lnSpc>
              <a:buFont typeface="Arial"/>
              <a:buChar char="•"/>
            </a:pPr>
            <a:r>
              <a:rPr lang="en-US" sz="1654" b="1">
                <a:solidFill>
                  <a:srgbClr val="444444"/>
                </a:solidFill>
                <a:latin typeface="Arial Bold"/>
                <a:ea typeface="Arial Bold"/>
                <a:cs typeface="Arial Bold"/>
                <a:sym typeface="Arial Bold"/>
              </a:rPr>
              <a:t>Full Regression</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731520" y="1700139"/>
            <a:ext cx="8431836" cy="4883541"/>
          </a:xfrm>
          <a:custGeom>
            <a:avLst/>
            <a:gdLst/>
            <a:ahLst/>
            <a:cxnLst/>
            <a:rect l="l" t="t" r="r" b="b"/>
            <a:pathLst>
              <a:path w="8431836" h="4883541">
                <a:moveTo>
                  <a:pt x="0" y="0"/>
                </a:moveTo>
                <a:lnTo>
                  <a:pt x="8431836" y="0"/>
                </a:lnTo>
                <a:lnTo>
                  <a:pt x="8431836" y="4883541"/>
                </a:lnTo>
                <a:lnTo>
                  <a:pt x="0" y="4883541"/>
                </a:lnTo>
                <a:lnTo>
                  <a:pt x="0" y="0"/>
                </a:lnTo>
                <a:close/>
              </a:path>
            </a:pathLst>
          </a:custGeom>
          <a:blipFill>
            <a:blip r:embed="rId3"/>
            <a:stretch>
              <a:fillRect/>
            </a:stretch>
          </a:blipFill>
        </p:spPr>
        <p:txBody>
          <a:bodyPr/>
          <a:lstStyle/>
          <a:p>
            <a:endParaRPr/>
          </a:p>
        </p:txBody>
      </p:sp>
      <p:sp>
        <p:nvSpPr>
          <p:cNvPr id="4" name="TextBox 4"/>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 Boss's Feedback</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731520" y="1493204"/>
            <a:ext cx="7405931" cy="5423535"/>
          </a:xfrm>
          <a:custGeom>
            <a:avLst/>
            <a:gdLst/>
            <a:ahLst/>
            <a:cxnLst/>
            <a:rect l="l" t="t" r="r" b="b"/>
            <a:pathLst>
              <a:path w="7405931" h="5423535">
                <a:moveTo>
                  <a:pt x="0" y="0"/>
                </a:moveTo>
                <a:lnTo>
                  <a:pt x="7405931" y="0"/>
                </a:lnTo>
                <a:lnTo>
                  <a:pt x="7405931" y="5423535"/>
                </a:lnTo>
                <a:lnTo>
                  <a:pt x="0" y="5423535"/>
                </a:lnTo>
                <a:lnTo>
                  <a:pt x="0" y="0"/>
                </a:lnTo>
                <a:close/>
              </a:path>
            </a:pathLst>
          </a:custGeom>
          <a:blipFill>
            <a:blip r:embed="rId3"/>
            <a:stretch>
              <a:fillRect/>
            </a:stretch>
          </a:blipFill>
        </p:spPr>
        <p:txBody>
          <a:bodyPr/>
          <a:lstStyle/>
          <a:p>
            <a:endParaRPr/>
          </a:p>
        </p:txBody>
      </p:sp>
      <p:sp>
        <p:nvSpPr>
          <p:cNvPr id="4" name="TextBox 4"/>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 Boss's Feedback</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2206601"/>
            <a:ext cx="12344400" cy="4377079"/>
          </a:xfrm>
          <a:custGeom>
            <a:avLst/>
            <a:gdLst/>
            <a:ahLst/>
            <a:cxnLst/>
            <a:rect l="l" t="t" r="r" b="b"/>
            <a:pathLst>
              <a:path w="12286538" h="4377079">
                <a:moveTo>
                  <a:pt x="0" y="0"/>
                </a:moveTo>
                <a:lnTo>
                  <a:pt x="12286538" y="0"/>
                </a:lnTo>
                <a:lnTo>
                  <a:pt x="12286538" y="4377079"/>
                </a:lnTo>
                <a:lnTo>
                  <a:pt x="0" y="4377079"/>
                </a:lnTo>
                <a:lnTo>
                  <a:pt x="0" y="0"/>
                </a:lnTo>
                <a:close/>
              </a:path>
            </a:pathLst>
          </a:custGeom>
          <a:blipFill>
            <a:blip r:embed="rId3"/>
            <a:stretch>
              <a:fillRect/>
            </a:stretch>
          </a:blipFill>
        </p:spPr>
        <p:txBody>
          <a:bodyPr/>
          <a:lstStyle/>
          <a:p>
            <a:endParaRPr/>
          </a:p>
        </p:txBody>
      </p:sp>
      <p:sp>
        <p:nvSpPr>
          <p:cNvPr id="4" name="TextBox 4"/>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 Boss's Feedback</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52560" y="1691764"/>
            <a:ext cx="6567440" cy="2042036"/>
          </a:xfrm>
          <a:custGeom>
            <a:avLst/>
            <a:gdLst/>
            <a:ahLst/>
            <a:cxnLst/>
            <a:rect l="l" t="t" r="r" b="b"/>
            <a:pathLst>
              <a:path w="5676989" h="1335213">
                <a:moveTo>
                  <a:pt x="0" y="0"/>
                </a:moveTo>
                <a:lnTo>
                  <a:pt x="5676989" y="0"/>
                </a:lnTo>
                <a:lnTo>
                  <a:pt x="5676989" y="1335212"/>
                </a:lnTo>
                <a:lnTo>
                  <a:pt x="0" y="1335212"/>
                </a:lnTo>
                <a:lnTo>
                  <a:pt x="0" y="0"/>
                </a:lnTo>
                <a:close/>
              </a:path>
            </a:pathLst>
          </a:custGeom>
          <a:blipFill>
            <a:blip r:embed="rId3"/>
            <a:stretch>
              <a:fillRect/>
            </a:stretch>
          </a:blipFill>
        </p:spPr>
        <p:txBody>
          <a:bodyPr/>
          <a:lstStyle/>
          <a:p>
            <a:endParaRPr/>
          </a:p>
        </p:txBody>
      </p:sp>
      <p:sp>
        <p:nvSpPr>
          <p:cNvPr id="4" name="Freeform 4"/>
          <p:cNvSpPr/>
          <p:nvPr/>
        </p:nvSpPr>
        <p:spPr>
          <a:xfrm>
            <a:off x="1052560" y="5167089"/>
            <a:ext cx="7969520" cy="1603866"/>
          </a:xfrm>
          <a:custGeom>
            <a:avLst/>
            <a:gdLst/>
            <a:ahLst/>
            <a:cxnLst/>
            <a:rect l="l" t="t" r="r" b="b"/>
            <a:pathLst>
              <a:path w="7969520" h="1603866">
                <a:moveTo>
                  <a:pt x="0" y="0"/>
                </a:moveTo>
                <a:lnTo>
                  <a:pt x="7969520" y="0"/>
                </a:lnTo>
                <a:lnTo>
                  <a:pt x="7969520" y="1603866"/>
                </a:lnTo>
                <a:lnTo>
                  <a:pt x="0" y="1603866"/>
                </a:lnTo>
                <a:lnTo>
                  <a:pt x="0" y="0"/>
                </a:lnTo>
                <a:close/>
              </a:path>
            </a:pathLst>
          </a:custGeom>
          <a:blipFill>
            <a:blip r:embed="rId4"/>
            <a:stretch>
              <a:fillRect/>
            </a:stretch>
          </a:blipFill>
        </p:spPr>
        <p:txBody>
          <a:bodyPr/>
          <a:lstStyle/>
          <a:p>
            <a:endParaRPr/>
          </a:p>
        </p:txBody>
      </p:sp>
      <p:sp>
        <p:nvSpPr>
          <p:cNvPr id="5" name="TextBox 5"/>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 Results: QUALITIES</a:t>
            </a:r>
          </a:p>
        </p:txBody>
      </p:sp>
      <p:sp>
        <p:nvSpPr>
          <p:cNvPr id="6" name="TextBox 6"/>
          <p:cNvSpPr txBox="1"/>
          <p:nvPr/>
        </p:nvSpPr>
        <p:spPr>
          <a:xfrm>
            <a:off x="850760" y="1222655"/>
            <a:ext cx="8366874" cy="325337"/>
          </a:xfrm>
          <a:prstGeom prst="rect">
            <a:avLst/>
          </a:prstGeom>
        </p:spPr>
        <p:txBody>
          <a:bodyPr lIns="0" tIns="0" rIns="0" bIns="0" rtlCol="0" anchor="t">
            <a:spAutoFit/>
          </a:bodyPr>
          <a:lstStyle/>
          <a:p>
            <a:pPr marL="399039" lvl="1" indent="-199519" algn="l">
              <a:lnSpc>
                <a:spcPts val="2573"/>
              </a:lnSpc>
              <a:buFont typeface="Arial"/>
              <a:buChar char="•"/>
            </a:pPr>
            <a:r>
              <a:rPr lang="en-US" sz="1654" b="1">
                <a:solidFill>
                  <a:srgbClr val="444444"/>
                </a:solidFill>
                <a:latin typeface="Arial Bold"/>
                <a:ea typeface="Arial Bold"/>
                <a:cs typeface="Arial Bold"/>
                <a:sym typeface="Arial Bold"/>
              </a:rPr>
              <a:t>Simple Regression</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980416" y="1904760"/>
            <a:ext cx="8444709" cy="2160275"/>
          </a:xfrm>
          <a:custGeom>
            <a:avLst/>
            <a:gdLst/>
            <a:ahLst/>
            <a:cxnLst/>
            <a:rect l="l" t="t" r="r" b="b"/>
            <a:pathLst>
              <a:path w="8444709" h="2160275">
                <a:moveTo>
                  <a:pt x="0" y="0"/>
                </a:moveTo>
                <a:lnTo>
                  <a:pt x="8444710" y="0"/>
                </a:lnTo>
                <a:lnTo>
                  <a:pt x="8444710" y="2160274"/>
                </a:lnTo>
                <a:lnTo>
                  <a:pt x="0" y="2160274"/>
                </a:lnTo>
                <a:lnTo>
                  <a:pt x="0" y="0"/>
                </a:lnTo>
                <a:close/>
              </a:path>
            </a:pathLst>
          </a:custGeom>
          <a:blipFill>
            <a:blip r:embed="rId4"/>
            <a:stretch>
              <a:fillRect/>
            </a:stretch>
          </a:blipFill>
        </p:spPr>
        <p:txBody>
          <a:bodyPr/>
          <a:lstStyle/>
          <a:p>
            <a:endParaRPr/>
          </a:p>
        </p:txBody>
      </p:sp>
      <p:graphicFrame>
        <p:nvGraphicFramePr>
          <p:cNvPr id="4" name="Object 4"/>
          <p:cNvGraphicFramePr/>
          <p:nvPr>
            <p:extLst>
              <p:ext uri="{D42A27DB-BD31-4B8C-83A1-F6EECF244321}">
                <p14:modId xmlns:p14="http://schemas.microsoft.com/office/powerpoint/2010/main" val="1803972367"/>
              </p:ext>
            </p:extLst>
          </p:nvPr>
        </p:nvGraphicFramePr>
        <p:xfrm>
          <a:off x="304800" y="3110983"/>
          <a:ext cx="10744200" cy="3886200"/>
        </p:xfrm>
        <a:graphic>
          <a:graphicData uri="http://schemas.openxmlformats.org/presentationml/2006/ole">
            <mc:AlternateContent xmlns:mc="http://schemas.openxmlformats.org/markup-compatibility/2006">
              <mc:Choice xmlns:v="urn:schemas-microsoft-com:vml" Requires="v">
                <p:oleObj spid="_x0000_s2054" name="Worksheet" r:id="rId5" imgW="12534900" imgH="3759200" progId="Excel.Sheet.12">
                  <p:embed/>
                </p:oleObj>
              </mc:Choice>
              <mc:Fallback>
                <p:oleObj name="Worksheet" r:id="rId5" imgW="12534900" imgH="3759200" progId="Excel.Sheet.12">
                  <p:embed/>
                  <p:pic>
                    <p:nvPicPr>
                      <p:cNvPr id="0" name=""/>
                      <p:cNvPicPr/>
                      <p:nvPr/>
                    </p:nvPicPr>
                    <p:blipFill>
                      <a:blip r:embed="rId6"/>
                      <a:stretch>
                        <a:fillRect/>
                      </a:stretch>
                    </p:blipFill>
                    <p:spPr>
                      <a:xfrm>
                        <a:off x="304800" y="3110983"/>
                        <a:ext cx="10744200" cy="3886200"/>
                      </a:xfrm>
                      <a:prstGeom prst="rect">
                        <a:avLst/>
                      </a:prstGeom>
                    </p:spPr>
                  </p:pic>
                </p:oleObj>
              </mc:Fallback>
            </mc:AlternateContent>
          </a:graphicData>
        </a:graphic>
      </p:graphicFrame>
      <p:sp>
        <p:nvSpPr>
          <p:cNvPr id="5" name="TextBox 5"/>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 Results: QUALITIES</a:t>
            </a:r>
          </a:p>
        </p:txBody>
      </p:sp>
      <p:sp>
        <p:nvSpPr>
          <p:cNvPr id="6" name="TextBox 6"/>
          <p:cNvSpPr txBox="1"/>
          <p:nvPr/>
        </p:nvSpPr>
        <p:spPr>
          <a:xfrm>
            <a:off x="850760" y="1150798"/>
            <a:ext cx="8366874" cy="325337"/>
          </a:xfrm>
          <a:prstGeom prst="rect">
            <a:avLst/>
          </a:prstGeom>
        </p:spPr>
        <p:txBody>
          <a:bodyPr lIns="0" tIns="0" rIns="0" bIns="0" rtlCol="0" anchor="t">
            <a:spAutoFit/>
          </a:bodyPr>
          <a:lstStyle/>
          <a:p>
            <a:pPr marL="399039" lvl="1" indent="-199519" algn="l">
              <a:lnSpc>
                <a:spcPts val="2573"/>
              </a:lnSpc>
              <a:buFont typeface="Arial"/>
              <a:buChar char="•"/>
            </a:pPr>
            <a:r>
              <a:rPr lang="en-US" sz="1654" b="1">
                <a:solidFill>
                  <a:srgbClr val="444444"/>
                </a:solidFill>
                <a:latin typeface="Arial Bold"/>
                <a:ea typeface="Arial Bold"/>
                <a:cs typeface="Arial Bold"/>
                <a:sym typeface="Arial Bold"/>
              </a:rPr>
              <a:t>Full Regression</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947" y="1619594"/>
            <a:ext cx="9768989" cy="5309882"/>
          </a:xfrm>
          <a:custGeom>
            <a:avLst/>
            <a:gdLst/>
            <a:ahLst/>
            <a:cxnLst/>
            <a:rect l="l" t="t" r="r" b="b"/>
            <a:pathLst>
              <a:path w="9768989" h="5309882">
                <a:moveTo>
                  <a:pt x="0" y="0"/>
                </a:moveTo>
                <a:lnTo>
                  <a:pt x="9768989" y="0"/>
                </a:lnTo>
                <a:lnTo>
                  <a:pt x="9768989" y="5309882"/>
                </a:lnTo>
                <a:lnTo>
                  <a:pt x="0" y="5309882"/>
                </a:lnTo>
                <a:lnTo>
                  <a:pt x="0" y="0"/>
                </a:lnTo>
                <a:close/>
              </a:path>
            </a:pathLst>
          </a:custGeom>
          <a:blipFill>
            <a:blip r:embed="rId3"/>
            <a:stretch>
              <a:fillRect t="-5327"/>
            </a:stretch>
          </a:blipFill>
        </p:spPr>
        <p:txBody>
          <a:bodyPr/>
          <a:lstStyle/>
          <a:p>
            <a:endParaRPr/>
          </a:p>
        </p:txBody>
      </p:sp>
      <p:sp>
        <p:nvSpPr>
          <p:cNvPr id="4" name="TextBox 4"/>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 QUALITIES</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 Characteristics</a:t>
            </a:r>
          </a:p>
        </p:txBody>
      </p:sp>
      <p:sp>
        <p:nvSpPr>
          <p:cNvPr id="4" name="Freeform 4"/>
          <p:cNvSpPr/>
          <p:nvPr/>
        </p:nvSpPr>
        <p:spPr>
          <a:xfrm>
            <a:off x="1227904" y="1532664"/>
            <a:ext cx="7329663" cy="5538298"/>
          </a:xfrm>
          <a:custGeom>
            <a:avLst/>
            <a:gdLst/>
            <a:ahLst/>
            <a:cxnLst/>
            <a:rect l="l" t="t" r="r" b="b"/>
            <a:pathLst>
              <a:path w="7329663" h="5538298">
                <a:moveTo>
                  <a:pt x="0" y="0"/>
                </a:moveTo>
                <a:lnTo>
                  <a:pt x="7329664" y="0"/>
                </a:lnTo>
                <a:lnTo>
                  <a:pt x="7329664" y="5538297"/>
                </a:lnTo>
                <a:lnTo>
                  <a:pt x="0" y="5538297"/>
                </a:lnTo>
                <a:lnTo>
                  <a:pt x="0" y="0"/>
                </a:lnTo>
                <a:close/>
              </a:path>
            </a:pathLst>
          </a:custGeom>
          <a:blipFill>
            <a:blip r:embed="rId3"/>
            <a:stretch>
              <a:fillRect t="-9295" r="-133452"/>
            </a:stretch>
          </a:blipFill>
        </p:spPr>
        <p:txBody>
          <a:bodyPr/>
          <a:lstStyle/>
          <a:p>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dirty="0">
                <a:solidFill>
                  <a:srgbClr val="2C3E50"/>
                </a:solidFill>
                <a:latin typeface="Arial Bold"/>
                <a:ea typeface="Arial Bold"/>
                <a:cs typeface="Arial Bold"/>
                <a:sym typeface="Arial Bold"/>
              </a:rPr>
              <a:t xml:space="preserve">Test III </a:t>
            </a:r>
            <a:r>
              <a:rPr lang="en-US" sz="2371" b="1" dirty="0" smtClean="0">
                <a:solidFill>
                  <a:srgbClr val="2C3E50"/>
                </a:solidFill>
                <a:latin typeface="Arial Bold"/>
                <a:ea typeface="Arial Bold"/>
                <a:cs typeface="Arial Bold"/>
                <a:sym typeface="Arial Bold"/>
              </a:rPr>
              <a:t xml:space="preserve">: </a:t>
            </a:r>
            <a:r>
              <a:rPr lang="en-US" sz="2371" b="1" dirty="0">
                <a:solidFill>
                  <a:srgbClr val="2C3E50"/>
                </a:solidFill>
                <a:latin typeface="Arial Bold"/>
                <a:ea typeface="Arial Bold"/>
                <a:cs typeface="Arial Bold"/>
                <a:sym typeface="Arial Bold"/>
              </a:rPr>
              <a:t>Professions</a:t>
            </a:r>
          </a:p>
        </p:txBody>
      </p:sp>
      <p:sp>
        <p:nvSpPr>
          <p:cNvPr id="4" name="TextBox 4"/>
          <p:cNvSpPr txBox="1"/>
          <p:nvPr/>
        </p:nvSpPr>
        <p:spPr>
          <a:xfrm>
            <a:off x="1194190" y="1830974"/>
            <a:ext cx="7873610" cy="1936428"/>
          </a:xfrm>
          <a:prstGeom prst="rect">
            <a:avLst/>
          </a:prstGeom>
        </p:spPr>
        <p:txBody>
          <a:bodyPr wrap="square" lIns="0" tIns="0" rIns="0" bIns="0" rtlCol="0" anchor="t">
            <a:spAutoFit/>
          </a:bodyPr>
          <a:lstStyle/>
          <a:p>
            <a:pPr algn="ctr">
              <a:lnSpc>
                <a:spcPts val="4078"/>
              </a:lnSpc>
            </a:pPr>
            <a:r>
              <a:rPr lang="en-US" sz="2622" dirty="0">
                <a:solidFill>
                  <a:srgbClr val="444444"/>
                </a:solidFill>
                <a:latin typeface="Arial"/>
                <a:ea typeface="Arial"/>
                <a:cs typeface="Arial"/>
                <a:sym typeface="Arial"/>
              </a:rPr>
              <a:t>Y = α + βD + ε</a:t>
            </a:r>
          </a:p>
          <a:p>
            <a:pPr marL="343194" lvl="1" indent="-171597" algn="l">
              <a:lnSpc>
                <a:spcPts val="2212"/>
              </a:lnSpc>
              <a:buFont typeface="Arial"/>
              <a:buChar char="•"/>
            </a:pPr>
            <a:r>
              <a:rPr lang="en-US" sz="1423" dirty="0">
                <a:solidFill>
                  <a:srgbClr val="444444"/>
                </a:solidFill>
                <a:latin typeface="Arial"/>
                <a:ea typeface="Arial"/>
                <a:cs typeface="Arial"/>
                <a:sym typeface="Arial"/>
              </a:rPr>
              <a:t>•Y = 1 if the protagonist is male</a:t>
            </a:r>
          </a:p>
          <a:p>
            <a:pPr marL="343194" lvl="1" indent="-171597" algn="l">
              <a:lnSpc>
                <a:spcPts val="2212"/>
              </a:lnSpc>
              <a:buFont typeface="Arial"/>
              <a:buChar char="•"/>
            </a:pPr>
            <a:r>
              <a:rPr lang="en-US" sz="1423" dirty="0">
                <a:solidFill>
                  <a:srgbClr val="444444"/>
                </a:solidFill>
                <a:latin typeface="Arial"/>
                <a:ea typeface="Arial"/>
                <a:cs typeface="Arial"/>
                <a:sym typeface="Arial"/>
              </a:rPr>
              <a:t>•</a:t>
            </a:r>
            <a:r>
              <a:rPr lang="en-US" sz="1423" i="1" dirty="0">
                <a:solidFill>
                  <a:srgbClr val="444444"/>
                </a:solidFill>
                <a:latin typeface="Arial Italics"/>
                <a:ea typeface="Arial Italics"/>
                <a:cs typeface="Arial Italics"/>
                <a:sym typeface="Arial Italics"/>
              </a:rPr>
              <a:t>D</a:t>
            </a:r>
            <a:r>
              <a:rPr lang="en-US" sz="1423" dirty="0">
                <a:solidFill>
                  <a:srgbClr val="444444"/>
                </a:solidFill>
                <a:latin typeface="Arial"/>
                <a:ea typeface="Arial"/>
                <a:cs typeface="Arial"/>
                <a:sym typeface="Arial"/>
              </a:rPr>
              <a:t xml:space="preserve"> = 1 if the employee has that specific profession</a:t>
            </a:r>
          </a:p>
          <a:p>
            <a:pPr marL="343194" lvl="1" indent="-171597" algn="l">
              <a:lnSpc>
                <a:spcPts val="2212"/>
              </a:lnSpc>
              <a:buFont typeface="Arial"/>
              <a:buChar char="•"/>
            </a:pPr>
            <a:r>
              <a:rPr lang="en-US" sz="1423" dirty="0">
                <a:solidFill>
                  <a:srgbClr val="444444"/>
                </a:solidFill>
                <a:latin typeface="Arial"/>
                <a:ea typeface="Arial"/>
                <a:cs typeface="Arial"/>
                <a:sym typeface="Arial"/>
              </a:rPr>
              <a:t xml:space="preserve">•β &gt; 0 → professions </a:t>
            </a:r>
            <a:r>
              <a:rPr lang="en-US" sz="1423" b="1" dirty="0">
                <a:solidFill>
                  <a:srgbClr val="444444"/>
                </a:solidFill>
                <a:latin typeface="Arial Bold"/>
                <a:ea typeface="Arial Bold"/>
                <a:cs typeface="Arial Bold"/>
                <a:sym typeface="Arial Bold"/>
              </a:rPr>
              <a:t>more associated</a:t>
            </a:r>
            <a:r>
              <a:rPr lang="en-US" sz="1423" dirty="0">
                <a:solidFill>
                  <a:srgbClr val="444444"/>
                </a:solidFill>
                <a:latin typeface="Arial"/>
                <a:ea typeface="Arial"/>
                <a:cs typeface="Arial"/>
                <a:sym typeface="Arial"/>
              </a:rPr>
              <a:t xml:space="preserve"> with male protagonists</a:t>
            </a:r>
          </a:p>
          <a:p>
            <a:pPr marL="343194" lvl="1" indent="-171597" algn="l">
              <a:lnSpc>
                <a:spcPts val="2212"/>
              </a:lnSpc>
              <a:buFont typeface="Arial"/>
              <a:buChar char="•"/>
            </a:pPr>
            <a:r>
              <a:rPr lang="en-US" sz="1423" dirty="0">
                <a:solidFill>
                  <a:srgbClr val="444444"/>
                </a:solidFill>
                <a:latin typeface="Arial"/>
                <a:ea typeface="Arial"/>
                <a:cs typeface="Arial"/>
                <a:sym typeface="Arial"/>
              </a:rPr>
              <a:t>Regression already separated by language</a:t>
            </a:r>
          </a:p>
          <a:p>
            <a:pPr algn="l">
              <a:lnSpc>
                <a:spcPts val="2213"/>
              </a:lnSpc>
            </a:pPr>
            <a:endParaRPr lang="en-US" sz="1423" dirty="0">
              <a:solidFill>
                <a:srgbClr val="444444"/>
              </a:solidFill>
              <a:latin typeface="Arial"/>
              <a:ea typeface="Arial"/>
              <a:cs typeface="Arial"/>
              <a:sym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643006" y="1998587"/>
            <a:ext cx="8998044" cy="5059464"/>
          </a:xfrm>
          <a:custGeom>
            <a:avLst/>
            <a:gdLst/>
            <a:ahLst/>
            <a:cxnLst/>
            <a:rect l="l" t="t" r="r" b="b"/>
            <a:pathLst>
              <a:path w="8998044" h="5059464">
                <a:moveTo>
                  <a:pt x="0" y="0"/>
                </a:moveTo>
                <a:lnTo>
                  <a:pt x="8998044" y="0"/>
                </a:lnTo>
                <a:lnTo>
                  <a:pt x="8998044" y="5059464"/>
                </a:lnTo>
                <a:lnTo>
                  <a:pt x="0" y="5059464"/>
                </a:lnTo>
                <a:lnTo>
                  <a:pt x="0" y="0"/>
                </a:lnTo>
                <a:close/>
              </a:path>
            </a:pathLst>
          </a:custGeom>
          <a:blipFill>
            <a:blip r:embed="rId3"/>
            <a:stretch>
              <a:fillRect t="-22208" r="-160031" b="-95723"/>
            </a:stretch>
          </a:blipFill>
        </p:spPr>
        <p:txBody>
          <a:bodyPr/>
          <a:lstStyle/>
          <a:p>
            <a:endParaRPr/>
          </a:p>
        </p:txBody>
      </p:sp>
      <p:sp>
        <p:nvSpPr>
          <p:cNvPr id="4" name="TextBox 4"/>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III: Professions (English)</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850760" y="3794680"/>
            <a:ext cx="5147319" cy="3418544"/>
          </a:xfrm>
          <a:custGeom>
            <a:avLst/>
            <a:gdLst/>
            <a:ahLst/>
            <a:cxnLst/>
            <a:rect l="l" t="t" r="r" b="b"/>
            <a:pathLst>
              <a:path w="5147319" h="3418544">
                <a:moveTo>
                  <a:pt x="0" y="0"/>
                </a:moveTo>
                <a:lnTo>
                  <a:pt x="5147319" y="0"/>
                </a:lnTo>
                <a:lnTo>
                  <a:pt x="5147319" y="3418544"/>
                </a:lnTo>
                <a:lnTo>
                  <a:pt x="0" y="3418544"/>
                </a:lnTo>
                <a:lnTo>
                  <a:pt x="0" y="0"/>
                </a:lnTo>
                <a:close/>
              </a:path>
            </a:pathLst>
          </a:custGeom>
          <a:blipFill>
            <a:blip r:embed="rId3"/>
            <a:stretch>
              <a:fillRect t="-112594" r="-199612"/>
            </a:stretch>
          </a:blipFill>
        </p:spPr>
        <p:txBody>
          <a:bodyPr/>
          <a:lstStyle/>
          <a:p>
            <a:endParaRPr/>
          </a:p>
        </p:txBody>
      </p:sp>
      <p:sp>
        <p:nvSpPr>
          <p:cNvPr id="4" name="Freeform 4"/>
          <p:cNvSpPr/>
          <p:nvPr/>
        </p:nvSpPr>
        <p:spPr>
          <a:xfrm>
            <a:off x="1091682" y="1157173"/>
            <a:ext cx="4268958" cy="2776304"/>
          </a:xfrm>
          <a:custGeom>
            <a:avLst/>
            <a:gdLst/>
            <a:ahLst/>
            <a:cxnLst/>
            <a:rect l="l" t="t" r="r" b="b"/>
            <a:pathLst>
              <a:path w="4268958" h="2776304">
                <a:moveTo>
                  <a:pt x="0" y="0"/>
                </a:moveTo>
                <a:lnTo>
                  <a:pt x="4268959" y="0"/>
                </a:lnTo>
                <a:lnTo>
                  <a:pt x="4268959" y="2776303"/>
                </a:lnTo>
                <a:lnTo>
                  <a:pt x="0" y="2776303"/>
                </a:lnTo>
                <a:lnTo>
                  <a:pt x="0" y="0"/>
                </a:lnTo>
                <a:close/>
              </a:path>
            </a:pathLst>
          </a:custGeom>
          <a:blipFill>
            <a:blip r:embed="rId4"/>
            <a:stretch>
              <a:fillRect l="-93878" t="-112594" r="-99511"/>
            </a:stretch>
          </a:blipFill>
        </p:spPr>
        <p:txBody>
          <a:bodyPr/>
          <a:lstStyle/>
          <a:p>
            <a:endParaRPr/>
          </a:p>
        </p:txBody>
      </p:sp>
      <p:sp>
        <p:nvSpPr>
          <p:cNvPr id="5" name="TextBox 5"/>
          <p:cNvSpPr txBox="1"/>
          <p:nvPr/>
        </p:nvSpPr>
        <p:spPr>
          <a:xfrm>
            <a:off x="850760" y="482379"/>
            <a:ext cx="5878789" cy="317408"/>
          </a:xfrm>
          <a:prstGeom prst="rect">
            <a:avLst/>
          </a:prstGeom>
        </p:spPr>
        <p:txBody>
          <a:bodyPr lIns="0" tIns="0" rIns="0" bIns="0" rtlCol="0" anchor="t">
            <a:spAutoFit/>
          </a:bodyPr>
          <a:lstStyle/>
          <a:p>
            <a:pPr algn="l">
              <a:lnSpc>
                <a:spcPts val="2371"/>
              </a:lnSpc>
            </a:pPr>
            <a:r>
              <a:rPr lang="en-US" sz="2371" b="1">
                <a:solidFill>
                  <a:srgbClr val="2C3E50"/>
                </a:solidFill>
                <a:latin typeface="Arial Bold"/>
                <a:ea typeface="Arial Bold"/>
                <a:cs typeface="Arial Bold"/>
                <a:sym typeface="Arial Bold"/>
              </a:rPr>
              <a:t>Test III: Professions (English)</a:t>
            </a:r>
          </a:p>
        </p:txBody>
      </p:sp>
      <p:sp>
        <p:nvSpPr>
          <p:cNvPr id="6" name="Freeform 6"/>
          <p:cNvSpPr/>
          <p:nvPr/>
        </p:nvSpPr>
        <p:spPr>
          <a:xfrm>
            <a:off x="5360641" y="1443231"/>
            <a:ext cx="4347116" cy="2792183"/>
          </a:xfrm>
          <a:custGeom>
            <a:avLst/>
            <a:gdLst/>
            <a:ahLst/>
            <a:cxnLst/>
            <a:rect l="l" t="t" r="r" b="b"/>
            <a:pathLst>
              <a:path w="4347116" h="2792183">
                <a:moveTo>
                  <a:pt x="0" y="0"/>
                </a:moveTo>
                <a:lnTo>
                  <a:pt x="4347115" y="0"/>
                </a:lnTo>
                <a:lnTo>
                  <a:pt x="4347115" y="2792183"/>
                </a:lnTo>
                <a:lnTo>
                  <a:pt x="0" y="2792183"/>
                </a:lnTo>
                <a:lnTo>
                  <a:pt x="0" y="0"/>
                </a:lnTo>
                <a:close/>
              </a:path>
            </a:pathLst>
          </a:custGeom>
          <a:blipFill>
            <a:blip r:embed="rId4"/>
            <a:stretch>
              <a:fillRect l="-189762" t="-112594"/>
            </a:stretch>
          </a:blipFill>
        </p:spPr>
        <p:txBody>
          <a:bodyPr/>
          <a:lstStyle/>
          <a:p>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73225"/>
            <a:ext cx="6363945" cy="987450"/>
          </a:xfrm>
          <a:prstGeom prst="rect">
            <a:avLst/>
          </a:prstGeom>
        </p:spPr>
        <p:txBody>
          <a:bodyPr lIns="0" tIns="0" rIns="0" bIns="0" rtlCol="0" anchor="t">
            <a:spAutoFit/>
          </a:bodyPr>
          <a:lstStyle/>
          <a:p>
            <a:pPr algn="l">
              <a:lnSpc>
                <a:spcPts val="3271"/>
              </a:lnSpc>
            </a:pPr>
            <a:r>
              <a:rPr lang="en-US" sz="3271" b="1" dirty="0">
                <a:solidFill>
                  <a:srgbClr val="2C3E50"/>
                </a:solidFill>
                <a:latin typeface="Arial Bold"/>
                <a:ea typeface="Arial Bold"/>
                <a:cs typeface="Arial Bold"/>
                <a:sym typeface="Arial Bold"/>
              </a:rPr>
              <a:t xml:space="preserve">Peer Studies: </a:t>
            </a:r>
          </a:p>
          <a:p>
            <a:pPr algn="l">
              <a:lnSpc>
                <a:spcPts val="2171"/>
              </a:lnSpc>
            </a:pPr>
            <a:r>
              <a:rPr lang="en-US" sz="2171" b="1" dirty="0" smtClean="0">
                <a:solidFill>
                  <a:srgbClr val="2C3E50"/>
                </a:solidFill>
                <a:latin typeface="Arial Bold"/>
                <a:ea typeface="Arial Bold"/>
                <a:cs typeface="Arial Bold"/>
                <a:sym typeface="Arial Bold"/>
              </a:rPr>
              <a:t xml:space="preserve">Complementary evidence </a:t>
            </a:r>
            <a:r>
              <a:rPr lang="en-US" sz="2171" b="1" dirty="0">
                <a:solidFill>
                  <a:srgbClr val="2C3E50"/>
                </a:solidFill>
                <a:latin typeface="Arial Bold"/>
                <a:ea typeface="Arial Bold"/>
                <a:cs typeface="Arial Bold"/>
                <a:sym typeface="Arial Bold"/>
              </a:rPr>
              <a:t>of reverse biases and remaining original biases</a:t>
            </a:r>
          </a:p>
        </p:txBody>
      </p:sp>
      <p:sp>
        <p:nvSpPr>
          <p:cNvPr id="4" name="TextBox 4"/>
          <p:cNvSpPr txBox="1"/>
          <p:nvPr/>
        </p:nvSpPr>
        <p:spPr>
          <a:xfrm>
            <a:off x="850760" y="1637038"/>
            <a:ext cx="7812072" cy="4757440"/>
          </a:xfrm>
          <a:prstGeom prst="rect">
            <a:avLst/>
          </a:prstGeom>
        </p:spPr>
        <p:txBody>
          <a:bodyPr lIns="0" tIns="0" rIns="0" bIns="0" rtlCol="0" anchor="t">
            <a:spAutoFit/>
          </a:bodyPr>
          <a:lstStyle/>
          <a:p>
            <a:pPr marL="384788" lvl="1" indent="-192394" algn="l">
              <a:lnSpc>
                <a:spcPts val="2771"/>
              </a:lnSpc>
              <a:buFont typeface="Arial"/>
              <a:buChar char="•"/>
            </a:pPr>
            <a:r>
              <a:rPr lang="en-US" sz="1782">
                <a:solidFill>
                  <a:srgbClr val="444444"/>
                </a:solidFill>
                <a:latin typeface="Arial"/>
                <a:ea typeface="Arial"/>
                <a:cs typeface="Arial"/>
                <a:sym typeface="Arial"/>
              </a:rPr>
              <a:t>Measuring Implicit Bias in Explicitly Unbiased LLMs”, by Bai et al. (2025)</a:t>
            </a:r>
          </a:p>
          <a:p>
            <a:pPr marL="769576" lvl="2" indent="-256525" algn="l">
              <a:lnSpc>
                <a:spcPts val="2771"/>
              </a:lnSpc>
              <a:buFont typeface="Arial"/>
              <a:buChar char="⚬"/>
            </a:pPr>
            <a:r>
              <a:rPr lang="en-US" sz="1782">
                <a:solidFill>
                  <a:srgbClr val="444444"/>
                </a:solidFill>
                <a:latin typeface="Arial"/>
                <a:ea typeface="Arial"/>
                <a:cs typeface="Arial"/>
                <a:sym typeface="Arial"/>
              </a:rPr>
              <a:t xml:space="preserve">Strong racial bias: white names associated with executive positions; minorities with clerical roles. </a:t>
            </a:r>
          </a:p>
          <a:p>
            <a:pPr marL="1154364" lvl="3" indent="-288591" algn="l">
              <a:lnSpc>
                <a:spcPts val="2771"/>
              </a:lnSpc>
              <a:buFont typeface="Arial"/>
              <a:buChar char="￭"/>
            </a:pPr>
            <a:r>
              <a:rPr lang="en-US" sz="1782">
                <a:solidFill>
                  <a:srgbClr val="444444"/>
                </a:solidFill>
                <a:latin typeface="Arial"/>
                <a:ea typeface="Arial"/>
                <a:cs typeface="Arial"/>
                <a:sym typeface="Arial"/>
              </a:rPr>
              <a:t>Evidence from the present study indicates that this bias persists</a:t>
            </a:r>
          </a:p>
          <a:p>
            <a:pPr marL="384788" lvl="1" indent="-192394" algn="l">
              <a:lnSpc>
                <a:spcPts val="2771"/>
              </a:lnSpc>
              <a:buFont typeface="Arial"/>
              <a:buChar char="•"/>
            </a:pPr>
            <a:r>
              <a:rPr lang="en-US" sz="1782">
                <a:solidFill>
                  <a:srgbClr val="444444"/>
                </a:solidFill>
                <a:latin typeface="Arial"/>
                <a:ea typeface="Arial"/>
                <a:cs typeface="Arial"/>
                <a:sym typeface="Arial"/>
              </a:rPr>
              <a:t>“Since Lawyers are Males…” (Joshi; Gupta; Dey; Parikh, 2024) examines gender bias in Hindi prompts.</a:t>
            </a:r>
          </a:p>
          <a:p>
            <a:pPr marL="769576" lvl="2" indent="-256525" algn="l">
              <a:lnSpc>
                <a:spcPts val="2771"/>
              </a:lnSpc>
              <a:buFont typeface="Arial"/>
              <a:buChar char="⚬"/>
            </a:pPr>
            <a:r>
              <a:rPr lang="en-US" sz="1782">
                <a:solidFill>
                  <a:srgbClr val="444444"/>
                </a:solidFill>
                <a:latin typeface="Arial"/>
                <a:ea typeface="Arial"/>
                <a:cs typeface="Arial"/>
                <a:sym typeface="Arial"/>
              </a:rPr>
              <a:t>Finds anti-female stereotypes in GPT-4o and Claude 3 Sonnet models in 87.8% of Hindi responses, compared to 33.4% in English.</a:t>
            </a:r>
          </a:p>
          <a:p>
            <a:pPr marL="769576" lvl="2" indent="-256525" algn="l">
              <a:lnSpc>
                <a:spcPts val="2771"/>
              </a:lnSpc>
              <a:buFont typeface="Arial"/>
              <a:buChar char="⚬"/>
            </a:pPr>
            <a:r>
              <a:rPr lang="en-US" sz="1782">
                <a:solidFill>
                  <a:srgbClr val="444444"/>
                </a:solidFill>
                <a:latin typeface="Arial"/>
                <a:ea typeface="Arial"/>
                <a:cs typeface="Arial"/>
                <a:sym typeface="Arial"/>
              </a:rPr>
              <a:t>Our tests found predominantly pro-female biases. Without major differentiation between languages (with GPT-4 showing a smaller bias, but in the same direction)</a:t>
            </a:r>
          </a:p>
          <a:p>
            <a:pPr marL="384788" lvl="1" indent="-192394" algn="l">
              <a:lnSpc>
                <a:spcPts val="2772"/>
              </a:lnSpc>
              <a:buFont typeface="Arial"/>
              <a:buChar char="•"/>
            </a:pPr>
            <a:r>
              <a:rPr lang="en-US" sz="1782">
                <a:solidFill>
                  <a:srgbClr val="444444"/>
                </a:solidFill>
                <a:latin typeface="Arial"/>
                <a:ea typeface="Arial"/>
                <a:cs typeface="Arial"/>
                <a:sym typeface="Arial"/>
              </a:rPr>
              <a:t>Balestri (2024; 2025) shows that, for prompts with potential for violence, GPT-4o and Gemini are more permissive with male characters.</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73225"/>
            <a:ext cx="6363945" cy="987450"/>
          </a:xfrm>
          <a:prstGeom prst="rect">
            <a:avLst/>
          </a:prstGeom>
        </p:spPr>
        <p:txBody>
          <a:bodyPr lIns="0" tIns="0" rIns="0" bIns="0" rtlCol="0" anchor="t">
            <a:spAutoFit/>
          </a:bodyPr>
          <a:lstStyle/>
          <a:p>
            <a:pPr algn="l">
              <a:lnSpc>
                <a:spcPts val="3271"/>
              </a:lnSpc>
            </a:pPr>
            <a:r>
              <a:rPr lang="en-US" sz="3271" b="1" dirty="0">
                <a:solidFill>
                  <a:srgbClr val="2C3E50"/>
                </a:solidFill>
                <a:latin typeface="Arial Bold"/>
                <a:ea typeface="Arial Bold"/>
                <a:cs typeface="Arial Bold"/>
                <a:sym typeface="Arial Bold"/>
              </a:rPr>
              <a:t xml:space="preserve">Peer Studies: </a:t>
            </a:r>
          </a:p>
          <a:p>
            <a:pPr>
              <a:lnSpc>
                <a:spcPts val="2171"/>
              </a:lnSpc>
            </a:pPr>
            <a:r>
              <a:rPr lang="en-US" sz="2171" b="1" dirty="0">
                <a:solidFill>
                  <a:srgbClr val="2C3E50"/>
                </a:solidFill>
                <a:latin typeface="Arial Bold"/>
                <a:ea typeface="Arial Bold"/>
                <a:cs typeface="Arial Bold"/>
                <a:sym typeface="Arial Bold"/>
              </a:rPr>
              <a:t>Complementary evidence of reverse biases and remaining original biases</a:t>
            </a:r>
          </a:p>
        </p:txBody>
      </p:sp>
      <p:sp>
        <p:nvSpPr>
          <p:cNvPr id="4" name="TextBox 4"/>
          <p:cNvSpPr txBox="1"/>
          <p:nvPr/>
        </p:nvSpPr>
        <p:spPr>
          <a:xfrm>
            <a:off x="731520" y="1555024"/>
            <a:ext cx="8131091" cy="4496542"/>
          </a:xfrm>
          <a:prstGeom prst="rect">
            <a:avLst/>
          </a:prstGeom>
        </p:spPr>
        <p:txBody>
          <a:bodyPr lIns="0" tIns="0" rIns="0" bIns="0" rtlCol="0" anchor="t">
            <a:spAutoFit/>
          </a:bodyPr>
          <a:lstStyle/>
          <a:p>
            <a:pPr marL="298962" lvl="1" indent="-149481" algn="l">
              <a:lnSpc>
                <a:spcPts val="2153"/>
              </a:lnSpc>
              <a:buFont typeface="Arial"/>
              <a:buChar char="•"/>
            </a:pPr>
            <a:r>
              <a:rPr lang="en-US" sz="1384" dirty="0">
                <a:solidFill>
                  <a:srgbClr val="444444"/>
                </a:solidFill>
                <a:latin typeface="Arial"/>
                <a:ea typeface="Arial"/>
                <a:cs typeface="Arial"/>
                <a:sym typeface="Arial"/>
              </a:rPr>
              <a:t>“Are Emily and Greg Still More Employable than Lakisha and Jamal?” (</a:t>
            </a:r>
            <a:r>
              <a:rPr lang="en-US" sz="1384" dirty="0" err="1">
                <a:solidFill>
                  <a:srgbClr val="444444"/>
                </a:solidFill>
                <a:latin typeface="Arial"/>
                <a:ea typeface="Arial"/>
                <a:cs typeface="Arial"/>
                <a:sym typeface="Arial"/>
              </a:rPr>
              <a:t>Veldanda</a:t>
            </a:r>
            <a:r>
              <a:rPr lang="en-US" sz="1384" dirty="0">
                <a:solidFill>
                  <a:srgbClr val="444444"/>
                </a:solidFill>
                <a:latin typeface="Arial"/>
                <a:ea typeface="Arial"/>
                <a:cs typeface="Arial"/>
                <a:sym typeface="Arial"/>
              </a:rPr>
              <a:t xml:space="preserve"> et al., 2023) replicates the classic experiment by Bertrand &amp; Mullainathan (2004):</a:t>
            </a:r>
          </a:p>
          <a:p>
            <a:pPr marL="597924" lvl="2" indent="-199308" algn="l">
              <a:lnSpc>
                <a:spcPts val="2153"/>
              </a:lnSpc>
              <a:buFont typeface="Arial"/>
              <a:buChar char="⚬"/>
            </a:pPr>
            <a:r>
              <a:rPr lang="en-US" sz="1384" dirty="0">
                <a:solidFill>
                  <a:srgbClr val="444444"/>
                </a:solidFill>
                <a:latin typeface="Arial"/>
                <a:ea typeface="Arial"/>
                <a:cs typeface="Arial"/>
                <a:sym typeface="Arial"/>
              </a:rPr>
              <a:t>Does not identify racial or gender bias in GPT-3.5, Bard, and Claude models.</a:t>
            </a:r>
          </a:p>
          <a:p>
            <a:pPr marL="597924" lvl="2" indent="-199308" algn="l">
              <a:lnSpc>
                <a:spcPts val="2153"/>
              </a:lnSpc>
              <a:buFont typeface="Arial"/>
              <a:buChar char="⚬"/>
            </a:pPr>
            <a:r>
              <a:rPr lang="en-US" sz="1384" dirty="0">
                <a:solidFill>
                  <a:srgbClr val="444444"/>
                </a:solidFill>
                <a:latin typeface="Arial"/>
                <a:ea typeface="Arial"/>
                <a:cs typeface="Arial"/>
                <a:sym typeface="Arial"/>
              </a:rPr>
              <a:t>However, it observes bias against pregnant women and political affiliation (pro-Democrat bias)</a:t>
            </a:r>
          </a:p>
          <a:p>
            <a:pPr marL="597924" lvl="2" indent="-199308" algn="l">
              <a:lnSpc>
                <a:spcPts val="2153"/>
              </a:lnSpc>
              <a:buFont typeface="Arial"/>
              <a:buChar char="⚬"/>
            </a:pPr>
            <a:r>
              <a:rPr lang="en-US" sz="1384" dirty="0">
                <a:solidFill>
                  <a:srgbClr val="444444"/>
                </a:solidFill>
                <a:latin typeface="Arial"/>
                <a:ea typeface="Arial"/>
                <a:cs typeface="Arial"/>
                <a:sym typeface="Arial"/>
              </a:rPr>
              <a:t xml:space="preserve">The pro-Democrat bias of GPT models is extensively documented in Motoki et al. (2023) </a:t>
            </a:r>
          </a:p>
          <a:p>
            <a:pPr marL="298962" lvl="1" indent="-149481" algn="l">
              <a:lnSpc>
                <a:spcPts val="2153"/>
              </a:lnSpc>
              <a:buFont typeface="Arial"/>
              <a:buChar char="•"/>
            </a:pPr>
            <a:r>
              <a:rPr lang="en-US" sz="1384" dirty="0">
                <a:solidFill>
                  <a:srgbClr val="444444"/>
                </a:solidFill>
                <a:latin typeface="Arial"/>
                <a:ea typeface="Arial"/>
                <a:cs typeface="Arial"/>
                <a:sym typeface="Arial"/>
              </a:rPr>
              <a:t>“Evaluating Bias in LLMs for Job-Resume Matching” (</a:t>
            </a:r>
            <a:r>
              <a:rPr lang="en-US" sz="1384" dirty="0" err="1">
                <a:solidFill>
                  <a:srgbClr val="444444"/>
                </a:solidFill>
                <a:latin typeface="Arial"/>
                <a:ea typeface="Arial"/>
                <a:cs typeface="Arial"/>
                <a:sym typeface="Arial"/>
              </a:rPr>
              <a:t>Iso</a:t>
            </a:r>
            <a:r>
              <a:rPr lang="en-US" sz="1384" dirty="0">
                <a:solidFill>
                  <a:srgbClr val="444444"/>
                </a:solidFill>
                <a:latin typeface="Arial"/>
                <a:ea typeface="Arial"/>
                <a:cs typeface="Arial"/>
                <a:sym typeface="Arial"/>
              </a:rPr>
              <a:t xml:space="preserve"> et al., 2025) analyzes twelve LLMs in recruitment tasks:</a:t>
            </a:r>
          </a:p>
          <a:p>
            <a:pPr marL="597924" lvl="2" indent="-199308" algn="l">
              <a:lnSpc>
                <a:spcPts val="2153"/>
              </a:lnSpc>
              <a:buFont typeface="Arial"/>
              <a:buChar char="⚬"/>
            </a:pPr>
            <a:r>
              <a:rPr lang="en-US" sz="1384" dirty="0">
                <a:solidFill>
                  <a:srgbClr val="444444"/>
                </a:solidFill>
                <a:latin typeface="Arial"/>
                <a:ea typeface="Arial"/>
                <a:cs typeface="Arial"/>
                <a:sym typeface="Arial"/>
              </a:rPr>
              <a:t>GPT models (from version 3.5 to 4o) maintain gender and racial neutrality.</a:t>
            </a:r>
          </a:p>
          <a:p>
            <a:pPr marL="597924" lvl="2" indent="-199308" algn="l">
              <a:lnSpc>
                <a:spcPts val="2153"/>
              </a:lnSpc>
              <a:buFont typeface="Arial"/>
              <a:buChar char="⚬"/>
            </a:pPr>
            <a:r>
              <a:rPr lang="en-US" sz="1384" dirty="0" err="1">
                <a:solidFill>
                  <a:srgbClr val="444444"/>
                </a:solidFill>
                <a:latin typeface="Arial"/>
                <a:ea typeface="Arial"/>
                <a:cs typeface="Arial"/>
                <a:sym typeface="Arial"/>
              </a:rPr>
              <a:t>LLaMA</a:t>
            </a:r>
            <a:r>
              <a:rPr lang="en-US" sz="1384" dirty="0">
                <a:solidFill>
                  <a:srgbClr val="444444"/>
                </a:solidFill>
                <a:latin typeface="Arial"/>
                <a:ea typeface="Arial"/>
                <a:cs typeface="Arial"/>
                <a:sym typeface="Arial"/>
              </a:rPr>
              <a:t xml:space="preserve"> 2 and Mistral models still exhibit gender and racial bias.</a:t>
            </a:r>
          </a:p>
          <a:p>
            <a:pPr marL="298962" lvl="1" indent="-149481" algn="l">
              <a:lnSpc>
                <a:spcPts val="2153"/>
              </a:lnSpc>
              <a:buFont typeface="Arial"/>
              <a:buChar char="•"/>
            </a:pPr>
            <a:r>
              <a:rPr lang="en-US" sz="1384" dirty="0">
                <a:solidFill>
                  <a:srgbClr val="444444"/>
                </a:solidFill>
                <a:latin typeface="Arial"/>
                <a:ea typeface="Arial"/>
                <a:cs typeface="Arial"/>
                <a:sym typeface="Arial"/>
              </a:rPr>
              <a:t>Key differences between the present study and candidate selection tests:</a:t>
            </a:r>
          </a:p>
          <a:p>
            <a:pPr marL="597924" lvl="2" indent="-199308" algn="l">
              <a:lnSpc>
                <a:spcPts val="2153"/>
              </a:lnSpc>
              <a:buFont typeface="Arial"/>
              <a:buChar char="⚬"/>
            </a:pPr>
            <a:r>
              <a:rPr lang="en-US" sz="1384" dirty="0">
                <a:solidFill>
                  <a:srgbClr val="444444"/>
                </a:solidFill>
                <a:latin typeface="Arial"/>
                <a:ea typeface="Arial"/>
                <a:cs typeface="Arial"/>
                <a:sym typeface="Arial"/>
              </a:rPr>
              <a:t>Due to high risk and previous experiences, models are repeatedly trained not to show biases in a CANDIDATE SELECTION task</a:t>
            </a:r>
          </a:p>
          <a:p>
            <a:pPr marL="597924" lvl="2" indent="-199308" algn="l">
              <a:lnSpc>
                <a:spcPts val="2153"/>
              </a:lnSpc>
              <a:buFont typeface="Arial"/>
              <a:buChar char="⚬"/>
            </a:pPr>
            <a:r>
              <a:rPr lang="en-US" sz="1384" dirty="0">
                <a:solidFill>
                  <a:srgbClr val="444444"/>
                </a:solidFill>
                <a:latin typeface="Arial"/>
                <a:ea typeface="Arial"/>
                <a:cs typeface="Arial"/>
                <a:sym typeface="Arial"/>
              </a:rPr>
              <a:t>Without such a rigid context, the model is freer to exhibit its implicit bias</a:t>
            </a:r>
          </a:p>
          <a:p>
            <a:pPr marL="298962" lvl="1" indent="-149481" algn="l">
              <a:lnSpc>
                <a:spcPts val="2153"/>
              </a:lnSpc>
              <a:buFont typeface="Arial"/>
              <a:buChar char="•"/>
            </a:pPr>
            <a:r>
              <a:rPr lang="en-US" sz="1384" dirty="0">
                <a:solidFill>
                  <a:srgbClr val="444444"/>
                </a:solidFill>
                <a:latin typeface="Arial"/>
                <a:ea typeface="Arial"/>
                <a:cs typeface="Arial"/>
                <a:sym typeface="Arial"/>
              </a:rPr>
              <a:t>Robustly Improving LLM Fairness in Realistic Settings via Interpretability” (</a:t>
            </a:r>
            <a:r>
              <a:rPr lang="en-US" sz="1384" dirty="0" err="1">
                <a:solidFill>
                  <a:srgbClr val="444444"/>
                </a:solidFill>
                <a:latin typeface="Arial"/>
                <a:ea typeface="Arial"/>
                <a:cs typeface="Arial"/>
                <a:sym typeface="Arial"/>
              </a:rPr>
              <a:t>Karvonen</a:t>
            </a:r>
            <a:r>
              <a:rPr lang="en-US" sz="1384" dirty="0">
                <a:solidFill>
                  <a:srgbClr val="444444"/>
                </a:solidFill>
                <a:latin typeface="Arial"/>
                <a:ea typeface="Arial"/>
                <a:cs typeface="Arial"/>
                <a:sym typeface="Arial"/>
              </a:rPr>
              <a:t>; Marks, 2025) identifies a “reverse” bias when making criteria more rigid (select only the top 10% most qualified)</a:t>
            </a:r>
          </a:p>
          <a:p>
            <a:pPr marL="597924" lvl="2" indent="-199308" algn="l">
              <a:lnSpc>
                <a:spcPts val="2154"/>
              </a:lnSpc>
              <a:buFont typeface="Arial"/>
              <a:buChar char="⚬"/>
            </a:pPr>
            <a:r>
              <a:rPr lang="en-US" sz="1384" dirty="0">
                <a:solidFill>
                  <a:srgbClr val="444444"/>
                </a:solidFill>
                <a:latin typeface="Arial"/>
                <a:ea typeface="Arial"/>
                <a:cs typeface="Arial"/>
                <a:sym typeface="Arial"/>
              </a:rPr>
              <a:t>The bias is "reverse": pro-female and pro-Black</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878789" cy="454568"/>
          </a:xfrm>
          <a:prstGeom prst="rect">
            <a:avLst/>
          </a:prstGeom>
        </p:spPr>
        <p:txBody>
          <a:bodyPr lIns="0" tIns="0" rIns="0" bIns="0" rtlCol="0" anchor="t">
            <a:spAutoFit/>
          </a:bodyPr>
          <a:lstStyle/>
          <a:p>
            <a:pPr algn="l">
              <a:lnSpc>
                <a:spcPts val="3271"/>
              </a:lnSpc>
            </a:pPr>
            <a:r>
              <a:rPr lang="en-US" sz="3271" b="1">
                <a:solidFill>
                  <a:srgbClr val="2C3E50"/>
                </a:solidFill>
                <a:latin typeface="Arial Bold"/>
                <a:ea typeface="Arial Bold"/>
                <a:cs typeface="Arial Bold"/>
                <a:sym typeface="Arial Bold"/>
              </a:rPr>
              <a:t>Conclusions</a:t>
            </a:r>
          </a:p>
        </p:txBody>
      </p:sp>
      <p:sp>
        <p:nvSpPr>
          <p:cNvPr id="4" name="TextBox 4"/>
          <p:cNvSpPr txBox="1"/>
          <p:nvPr/>
        </p:nvSpPr>
        <p:spPr>
          <a:xfrm>
            <a:off x="786443" y="1526169"/>
            <a:ext cx="8366874" cy="4334520"/>
          </a:xfrm>
          <a:prstGeom prst="rect">
            <a:avLst/>
          </a:prstGeom>
        </p:spPr>
        <p:txBody>
          <a:bodyPr lIns="0" tIns="0" rIns="0" bIns="0" rtlCol="0" anchor="t">
            <a:spAutoFit/>
          </a:bodyPr>
          <a:lstStyle/>
          <a:p>
            <a:pPr marL="399039" lvl="1" indent="-199519" algn="l">
              <a:lnSpc>
                <a:spcPts val="2572"/>
              </a:lnSpc>
              <a:buFont typeface="Arial"/>
              <a:buChar char="•"/>
            </a:pPr>
            <a:r>
              <a:rPr lang="en-US" sz="1654" dirty="0">
                <a:solidFill>
                  <a:srgbClr val="444444"/>
                </a:solidFill>
                <a:latin typeface="Arial"/>
                <a:ea typeface="Arial"/>
                <a:cs typeface="Arial"/>
                <a:sym typeface="Arial"/>
              </a:rPr>
              <a:t xml:space="preserve">The present study </a:t>
            </a:r>
            <a:r>
              <a:rPr lang="en-US" sz="1654" dirty="0" smtClean="0">
                <a:solidFill>
                  <a:srgbClr val="444444"/>
                </a:solidFill>
                <a:latin typeface="Arial"/>
                <a:ea typeface="Arial"/>
                <a:cs typeface="Arial"/>
                <a:sym typeface="Arial"/>
              </a:rPr>
              <a:t xml:space="preserve">finds strong evidence for implicit </a:t>
            </a:r>
            <a:r>
              <a:rPr lang="en-US" sz="1654" dirty="0">
                <a:solidFill>
                  <a:srgbClr val="444444"/>
                </a:solidFill>
                <a:latin typeface="Arial"/>
                <a:ea typeface="Arial"/>
                <a:cs typeface="Arial"/>
                <a:sym typeface="Arial"/>
              </a:rPr>
              <a:t xml:space="preserve">pro-female and anti-male </a:t>
            </a:r>
            <a:r>
              <a:rPr lang="en-US" sz="1654" dirty="0" smtClean="0">
                <a:solidFill>
                  <a:srgbClr val="444444"/>
                </a:solidFill>
                <a:latin typeface="Arial"/>
                <a:ea typeface="Arial"/>
                <a:cs typeface="Arial"/>
                <a:sym typeface="Arial"/>
              </a:rPr>
              <a:t xml:space="preserve">bias; </a:t>
            </a:r>
            <a:r>
              <a:rPr lang="en-US" sz="1654" dirty="0">
                <a:solidFill>
                  <a:srgbClr val="444444"/>
                </a:solidFill>
                <a:latin typeface="Arial"/>
                <a:ea typeface="Arial"/>
                <a:cs typeface="Arial"/>
                <a:sym typeface="Arial"/>
              </a:rPr>
              <a:t>in a context where the model was not trained for neutrality</a:t>
            </a:r>
          </a:p>
          <a:p>
            <a:pPr marL="714445" lvl="2" indent="-238148" algn="l">
              <a:lnSpc>
                <a:spcPts val="2572"/>
              </a:lnSpc>
              <a:buFont typeface="Arial"/>
              <a:buChar char="⚬"/>
            </a:pPr>
            <a:r>
              <a:rPr lang="en-US" sz="1654" dirty="0">
                <a:solidFill>
                  <a:srgbClr val="444444"/>
                </a:solidFill>
                <a:latin typeface="Arial"/>
                <a:ea typeface="Arial"/>
                <a:cs typeface="Arial"/>
                <a:sym typeface="Arial"/>
              </a:rPr>
              <a:t xml:space="preserve">We find evidence of persistence of traditional biases in the choice of professions (more </a:t>
            </a:r>
            <a:r>
              <a:rPr lang="en-US" sz="1654" i="1" dirty="0">
                <a:solidFill>
                  <a:srgbClr val="444444"/>
                </a:solidFill>
                <a:latin typeface="Arial Italics"/>
                <a:ea typeface="Arial Italics"/>
                <a:cs typeface="Arial Italics"/>
                <a:sym typeface="Arial Italics"/>
              </a:rPr>
              <a:t>teachers</a:t>
            </a:r>
            <a:r>
              <a:rPr lang="en-US" sz="1654" dirty="0">
                <a:solidFill>
                  <a:srgbClr val="444444"/>
                </a:solidFill>
                <a:latin typeface="Arial"/>
                <a:ea typeface="Arial"/>
                <a:cs typeface="Arial"/>
                <a:sym typeface="Arial"/>
              </a:rPr>
              <a:t xml:space="preserve"> women than </a:t>
            </a:r>
            <a:r>
              <a:rPr lang="en-US" sz="1654" i="1" dirty="0">
                <a:solidFill>
                  <a:srgbClr val="444444"/>
                </a:solidFill>
                <a:latin typeface="Arial Italics"/>
                <a:ea typeface="Arial Italics"/>
                <a:cs typeface="Arial Italics"/>
                <a:sym typeface="Arial Italics"/>
              </a:rPr>
              <a:t>professors, for example)</a:t>
            </a:r>
          </a:p>
          <a:p>
            <a:pPr marL="399039" lvl="1" indent="-199519" algn="l">
              <a:lnSpc>
                <a:spcPts val="2572"/>
              </a:lnSpc>
              <a:buFont typeface="Arial"/>
              <a:buChar char="•"/>
            </a:pPr>
            <a:r>
              <a:rPr lang="en-US" sz="1654" dirty="0">
                <a:solidFill>
                  <a:srgbClr val="444444"/>
                </a:solidFill>
                <a:latin typeface="Arial"/>
                <a:ea typeface="Arial"/>
                <a:cs typeface="Arial"/>
                <a:sym typeface="Arial"/>
              </a:rPr>
              <a:t>There is clear evidence of over-correction of biases present in earlier models</a:t>
            </a:r>
          </a:p>
          <a:p>
            <a:pPr marL="399039" lvl="1" indent="-199519" algn="l">
              <a:lnSpc>
                <a:spcPts val="2572"/>
              </a:lnSpc>
              <a:buFont typeface="Arial"/>
              <a:buChar char="•"/>
            </a:pPr>
            <a:r>
              <a:rPr lang="en-US" sz="1654" dirty="0">
                <a:solidFill>
                  <a:srgbClr val="444444"/>
                </a:solidFill>
                <a:latin typeface="Arial"/>
                <a:ea typeface="Arial"/>
                <a:cs typeface="Arial"/>
                <a:sym typeface="Arial"/>
              </a:rPr>
              <a:t>Peer studies indicate that:</a:t>
            </a:r>
          </a:p>
          <a:p>
            <a:pPr marL="714445" lvl="2" indent="-238148" algn="l">
              <a:lnSpc>
                <a:spcPts val="2572"/>
              </a:lnSpc>
              <a:buFont typeface="Arial"/>
              <a:buChar char="⚬"/>
            </a:pPr>
            <a:r>
              <a:rPr lang="en-US" sz="1654" dirty="0">
                <a:solidFill>
                  <a:srgbClr val="444444"/>
                </a:solidFill>
                <a:latin typeface="Arial"/>
                <a:ea typeface="Arial"/>
                <a:cs typeface="Arial"/>
                <a:sym typeface="Arial"/>
              </a:rPr>
              <a:t>In a rigid task, focused on the labor market, the model does not show clear biases</a:t>
            </a:r>
          </a:p>
          <a:p>
            <a:pPr marL="714445" lvl="2" indent="-238148" algn="l">
              <a:lnSpc>
                <a:spcPts val="2572"/>
              </a:lnSpc>
              <a:buFont typeface="Arial"/>
              <a:buChar char="⚬"/>
            </a:pPr>
            <a:r>
              <a:rPr lang="en-US" sz="1654" dirty="0">
                <a:solidFill>
                  <a:srgbClr val="444444"/>
                </a:solidFill>
                <a:latin typeface="Arial"/>
                <a:ea typeface="Arial"/>
                <a:cs typeface="Arial"/>
                <a:sym typeface="Arial"/>
              </a:rPr>
              <a:t>Implicitly, the model can exhibit both traditional biases (against candidates who became pregnant, for example) and "reverse" biases (female candidates and Black individuals being chosen disproportionately)</a:t>
            </a:r>
          </a:p>
          <a:p>
            <a:pPr marL="357223" lvl="1" indent="-178611" algn="l">
              <a:lnSpc>
                <a:spcPts val="2572"/>
              </a:lnSpc>
              <a:buFont typeface="Arial"/>
              <a:buChar char="•"/>
            </a:pPr>
            <a:r>
              <a:rPr lang="en-US" sz="1654" dirty="0">
                <a:solidFill>
                  <a:srgbClr val="444444"/>
                </a:solidFill>
                <a:latin typeface="Arial"/>
                <a:ea typeface="Arial"/>
                <a:cs typeface="Arial"/>
                <a:sym typeface="Arial"/>
              </a:rPr>
              <a:t xml:space="preserve">The biases of a model without </a:t>
            </a:r>
            <a:r>
              <a:rPr lang="en-US" sz="1654" i="1" dirty="0" err="1">
                <a:solidFill>
                  <a:srgbClr val="444444"/>
                </a:solidFill>
                <a:latin typeface="Arial Italics"/>
                <a:ea typeface="Arial Italics"/>
                <a:cs typeface="Arial Italics"/>
                <a:sym typeface="Arial Italics"/>
              </a:rPr>
              <a:t>unbiasing</a:t>
            </a:r>
            <a:r>
              <a:rPr lang="en-US" sz="1654" i="1" dirty="0">
                <a:solidFill>
                  <a:srgbClr val="444444"/>
                </a:solidFill>
                <a:latin typeface="Arial Italics"/>
                <a:ea typeface="Arial Italics"/>
                <a:cs typeface="Arial Italics"/>
                <a:sym typeface="Arial Italics"/>
              </a:rPr>
              <a:t xml:space="preserve"> </a:t>
            </a:r>
            <a:r>
              <a:rPr lang="en-US" sz="1654" dirty="0">
                <a:solidFill>
                  <a:srgbClr val="444444"/>
                </a:solidFill>
                <a:latin typeface="Arial"/>
                <a:ea typeface="Arial"/>
                <a:cs typeface="Arial"/>
                <a:sym typeface="Arial"/>
              </a:rPr>
              <a:t xml:space="preserve">are extremely dangerous, and reverse biases are part of a trade-off: </a:t>
            </a:r>
            <a:endParaRPr lang="en-US" sz="1654" dirty="0" smtClean="0">
              <a:solidFill>
                <a:srgbClr val="444444"/>
              </a:solidFill>
              <a:latin typeface="Arial"/>
              <a:ea typeface="Arial"/>
              <a:cs typeface="Arial"/>
              <a:sym typeface="Arial"/>
            </a:endParaRPr>
          </a:p>
          <a:p>
            <a:pPr marL="814423" lvl="2" indent="-178611">
              <a:lnSpc>
                <a:spcPts val="2572"/>
              </a:lnSpc>
              <a:buFont typeface="Arial"/>
              <a:buChar char="•"/>
            </a:pPr>
            <a:r>
              <a:rPr lang="en-US" sz="1654" dirty="0">
                <a:solidFill>
                  <a:srgbClr val="444444"/>
                </a:solidFill>
                <a:latin typeface="Arial"/>
                <a:ea typeface="Arial"/>
                <a:cs typeface="Arial"/>
                <a:sym typeface="Arial"/>
              </a:rPr>
              <a:t>I</a:t>
            </a:r>
            <a:r>
              <a:rPr lang="en-US" sz="1654" dirty="0" smtClean="0">
                <a:solidFill>
                  <a:srgbClr val="444444"/>
                </a:solidFill>
                <a:latin typeface="Arial"/>
                <a:ea typeface="Arial"/>
                <a:cs typeface="Arial"/>
                <a:sym typeface="Arial"/>
              </a:rPr>
              <a:t xml:space="preserve">n </a:t>
            </a:r>
            <a:r>
              <a:rPr lang="en-US" sz="1654" dirty="0">
                <a:solidFill>
                  <a:srgbClr val="444444"/>
                </a:solidFill>
                <a:latin typeface="Arial"/>
                <a:ea typeface="Arial"/>
                <a:cs typeface="Arial"/>
                <a:sym typeface="Arial"/>
              </a:rPr>
              <a:t xml:space="preserve">an unfair world, it is impossible to create a completely fair </a:t>
            </a:r>
            <a:r>
              <a:rPr lang="en-US" sz="1654" dirty="0" smtClean="0">
                <a:solidFill>
                  <a:srgbClr val="444444"/>
                </a:solidFill>
                <a:latin typeface="Arial"/>
                <a:ea typeface="Arial"/>
                <a:cs typeface="Arial"/>
                <a:sym typeface="Arial"/>
              </a:rPr>
              <a:t>model</a:t>
            </a:r>
            <a:endParaRPr lang="en-US" sz="1654" dirty="0">
              <a:solidFill>
                <a:srgbClr val="444444"/>
              </a:solidFill>
              <a:latin typeface="Arial"/>
              <a:ea typeface="Arial"/>
              <a:cs typeface="Arial"/>
              <a:sym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0760" y="482379"/>
            <a:ext cx="5878789" cy="454568"/>
          </a:xfrm>
          <a:prstGeom prst="rect">
            <a:avLst/>
          </a:prstGeom>
        </p:spPr>
        <p:txBody>
          <a:bodyPr lIns="0" tIns="0" rIns="0" bIns="0" rtlCol="0" anchor="t">
            <a:spAutoFit/>
          </a:bodyPr>
          <a:lstStyle/>
          <a:p>
            <a:pPr algn="l">
              <a:lnSpc>
                <a:spcPts val="3271"/>
              </a:lnSpc>
            </a:pPr>
            <a:r>
              <a:rPr lang="en-US" sz="3271" b="1">
                <a:solidFill>
                  <a:srgbClr val="2C3E50"/>
                </a:solidFill>
                <a:latin typeface="Arial Bold"/>
                <a:ea typeface="Arial Bold"/>
                <a:cs typeface="Arial Bold"/>
                <a:sym typeface="Arial Bold"/>
              </a:rPr>
              <a:t>Conclusions</a:t>
            </a:r>
          </a:p>
        </p:txBody>
      </p:sp>
      <p:sp>
        <p:nvSpPr>
          <p:cNvPr id="4" name="TextBox 4"/>
          <p:cNvSpPr txBox="1"/>
          <p:nvPr/>
        </p:nvSpPr>
        <p:spPr>
          <a:xfrm>
            <a:off x="786443" y="1526169"/>
            <a:ext cx="8366874" cy="4334520"/>
          </a:xfrm>
          <a:prstGeom prst="rect">
            <a:avLst/>
          </a:prstGeom>
        </p:spPr>
        <p:txBody>
          <a:bodyPr lIns="0" tIns="0" rIns="0" bIns="0" rtlCol="0" anchor="t">
            <a:spAutoFit/>
          </a:bodyPr>
          <a:lstStyle/>
          <a:p>
            <a:pPr marL="357223" lvl="1" indent="-178611" algn="l">
              <a:lnSpc>
                <a:spcPts val="2573"/>
              </a:lnSpc>
              <a:buFont typeface="Arial"/>
              <a:buChar char="•"/>
            </a:pPr>
            <a:r>
              <a:rPr lang="en-US" sz="2400" dirty="0" smtClean="0">
                <a:solidFill>
                  <a:srgbClr val="444444"/>
                </a:solidFill>
                <a:latin typeface="Arial"/>
                <a:ea typeface="Arial"/>
                <a:cs typeface="Arial"/>
                <a:sym typeface="Arial"/>
              </a:rPr>
              <a:t xml:space="preserve">While completely eliminating biases in AI models is impossible, </a:t>
            </a:r>
            <a:r>
              <a:rPr lang="en-US" sz="2400" dirty="0">
                <a:solidFill>
                  <a:srgbClr val="444444"/>
                </a:solidFill>
                <a:latin typeface="Arial"/>
                <a:ea typeface="Arial"/>
                <a:cs typeface="Arial"/>
                <a:sym typeface="Arial"/>
              </a:rPr>
              <a:t xml:space="preserve">it is possible to mitigate these biases. </a:t>
            </a:r>
            <a:endParaRPr lang="en-US" sz="2400" dirty="0" smtClean="0">
              <a:solidFill>
                <a:srgbClr val="444444"/>
              </a:solidFill>
              <a:latin typeface="Arial"/>
              <a:ea typeface="Arial"/>
              <a:cs typeface="Arial"/>
              <a:sym typeface="Arial"/>
            </a:endParaRPr>
          </a:p>
          <a:p>
            <a:pPr marL="357223" lvl="1" indent="-178611" algn="l">
              <a:lnSpc>
                <a:spcPts val="2573"/>
              </a:lnSpc>
              <a:buFont typeface="Arial"/>
              <a:buChar char="•"/>
            </a:pPr>
            <a:endParaRPr lang="en-US" sz="2400" dirty="0" smtClean="0">
              <a:solidFill>
                <a:srgbClr val="444444"/>
              </a:solidFill>
              <a:latin typeface="Arial"/>
              <a:ea typeface="Arial"/>
              <a:cs typeface="Arial"/>
              <a:sym typeface="Arial"/>
            </a:endParaRPr>
          </a:p>
          <a:p>
            <a:pPr marL="357223" lvl="1" indent="-178611" algn="l">
              <a:lnSpc>
                <a:spcPts val="2573"/>
              </a:lnSpc>
              <a:buFont typeface="Arial"/>
              <a:buChar char="•"/>
            </a:pPr>
            <a:r>
              <a:rPr lang="en-US" sz="2400" dirty="0" smtClean="0">
                <a:solidFill>
                  <a:srgbClr val="444444"/>
                </a:solidFill>
                <a:latin typeface="Arial"/>
                <a:ea typeface="Arial"/>
                <a:cs typeface="Arial"/>
                <a:sym typeface="Arial"/>
              </a:rPr>
              <a:t xml:space="preserve">With </a:t>
            </a:r>
            <a:r>
              <a:rPr lang="en-US" sz="2400" dirty="0">
                <a:solidFill>
                  <a:srgbClr val="444444"/>
                </a:solidFill>
                <a:latin typeface="Arial"/>
                <a:ea typeface="Arial"/>
                <a:cs typeface="Arial"/>
                <a:sym typeface="Arial"/>
              </a:rPr>
              <a:t xml:space="preserve">constant </a:t>
            </a:r>
            <a:r>
              <a:rPr lang="en-US" sz="2400" dirty="0" smtClean="0">
                <a:solidFill>
                  <a:srgbClr val="444444"/>
                </a:solidFill>
                <a:latin typeface="Arial"/>
                <a:ea typeface="Arial"/>
                <a:cs typeface="Arial"/>
                <a:sym typeface="Arial"/>
              </a:rPr>
              <a:t xml:space="preserve">updates to models, </a:t>
            </a:r>
            <a:r>
              <a:rPr lang="en-US" sz="2400" dirty="0">
                <a:solidFill>
                  <a:srgbClr val="444444"/>
                </a:solidFill>
                <a:latin typeface="Arial"/>
                <a:ea typeface="Arial"/>
                <a:cs typeface="Arial"/>
                <a:sym typeface="Arial"/>
              </a:rPr>
              <a:t xml:space="preserve">companies must be aware of the risks of </a:t>
            </a:r>
            <a:r>
              <a:rPr lang="en-US" sz="2400" dirty="0" smtClean="0">
                <a:solidFill>
                  <a:srgbClr val="444444"/>
                </a:solidFill>
                <a:latin typeface="Arial"/>
                <a:ea typeface="Arial"/>
                <a:cs typeface="Arial"/>
                <a:sym typeface="Arial"/>
              </a:rPr>
              <a:t xml:space="preserve">over-correction when </a:t>
            </a:r>
            <a:r>
              <a:rPr lang="en-US" sz="2400" dirty="0" err="1" smtClean="0">
                <a:solidFill>
                  <a:srgbClr val="444444"/>
                </a:solidFill>
                <a:latin typeface="Arial"/>
                <a:ea typeface="Arial"/>
                <a:cs typeface="Arial"/>
                <a:sym typeface="Arial"/>
              </a:rPr>
              <a:t>unbiasing</a:t>
            </a:r>
            <a:r>
              <a:rPr lang="en-US" sz="2400" dirty="0" smtClean="0">
                <a:solidFill>
                  <a:srgbClr val="444444"/>
                </a:solidFill>
                <a:latin typeface="Arial"/>
                <a:ea typeface="Arial"/>
                <a:cs typeface="Arial"/>
                <a:sym typeface="Arial"/>
              </a:rPr>
              <a:t xml:space="preserve"> a model</a:t>
            </a:r>
          </a:p>
          <a:p>
            <a:pPr marL="357223" lvl="1" indent="-178611" algn="l">
              <a:lnSpc>
                <a:spcPts val="2573"/>
              </a:lnSpc>
              <a:buFont typeface="Arial"/>
              <a:buChar char="•"/>
            </a:pPr>
            <a:endParaRPr lang="en-US" sz="2400" dirty="0" smtClean="0">
              <a:solidFill>
                <a:srgbClr val="444444"/>
              </a:solidFill>
              <a:latin typeface="Arial"/>
              <a:ea typeface="Arial"/>
              <a:cs typeface="Arial"/>
              <a:sym typeface="Arial"/>
            </a:endParaRPr>
          </a:p>
          <a:p>
            <a:pPr marL="357223" lvl="1" indent="-178611" algn="l">
              <a:lnSpc>
                <a:spcPts val="2573"/>
              </a:lnSpc>
              <a:buFont typeface="Arial"/>
              <a:buChar char="•"/>
            </a:pPr>
            <a:r>
              <a:rPr lang="pt-BR" sz="2400" dirty="0" smtClean="0">
                <a:solidFill>
                  <a:srgbClr val="444444"/>
                </a:solidFill>
                <a:latin typeface="Arial"/>
                <a:ea typeface="Arial"/>
                <a:cs typeface="Arial"/>
                <a:sym typeface="Arial"/>
              </a:rPr>
              <a:t xml:space="preserve">The </a:t>
            </a:r>
            <a:r>
              <a:rPr lang="pt-BR" sz="2400" dirty="0" err="1" smtClean="0">
                <a:solidFill>
                  <a:srgbClr val="444444"/>
                </a:solidFill>
                <a:latin typeface="Arial"/>
                <a:ea typeface="Arial"/>
                <a:cs typeface="Arial"/>
                <a:sym typeface="Arial"/>
              </a:rPr>
              <a:t>biggest</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conclusion</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of</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our</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study</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is</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that</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models</a:t>
            </a:r>
            <a:r>
              <a:rPr lang="pt-BR" sz="2400" dirty="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need</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constant</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evaluation</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Models</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should</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be</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tested</a:t>
            </a:r>
            <a:r>
              <a:rPr lang="pt-BR" sz="2400" dirty="0" smtClean="0">
                <a:solidFill>
                  <a:srgbClr val="444444"/>
                </a:solidFill>
                <a:latin typeface="Arial"/>
                <a:ea typeface="Arial"/>
                <a:cs typeface="Arial"/>
                <a:sym typeface="Arial"/>
              </a:rPr>
              <a:t xml:space="preserve"> for </a:t>
            </a:r>
            <a:r>
              <a:rPr lang="pt-BR" sz="2400" dirty="0" err="1" smtClean="0">
                <a:solidFill>
                  <a:srgbClr val="444444"/>
                </a:solidFill>
                <a:latin typeface="Arial"/>
                <a:ea typeface="Arial"/>
                <a:cs typeface="Arial"/>
                <a:sym typeface="Arial"/>
              </a:rPr>
              <a:t>various</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biases</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before</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being</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used</a:t>
            </a:r>
            <a:r>
              <a:rPr lang="pt-BR" sz="2400" dirty="0" smtClean="0">
                <a:solidFill>
                  <a:srgbClr val="444444"/>
                </a:solidFill>
                <a:latin typeface="Arial"/>
                <a:ea typeface="Arial"/>
                <a:cs typeface="Arial"/>
                <a:sym typeface="Arial"/>
              </a:rPr>
              <a:t xml:space="preserve"> in real world </a:t>
            </a:r>
            <a:r>
              <a:rPr lang="pt-BR" sz="2400" dirty="0" err="1" smtClean="0">
                <a:solidFill>
                  <a:srgbClr val="444444"/>
                </a:solidFill>
                <a:latin typeface="Arial"/>
                <a:ea typeface="Arial"/>
                <a:cs typeface="Arial"/>
                <a:sym typeface="Arial"/>
              </a:rPr>
              <a:t>applications</a:t>
            </a:r>
            <a:endParaRPr lang="pt-BR" sz="2400" dirty="0" smtClean="0">
              <a:solidFill>
                <a:srgbClr val="444444"/>
              </a:solidFill>
              <a:latin typeface="Arial"/>
              <a:ea typeface="Arial"/>
              <a:cs typeface="Arial"/>
              <a:sym typeface="Arial"/>
            </a:endParaRPr>
          </a:p>
          <a:p>
            <a:pPr marL="357223" lvl="1" indent="-178611" algn="l">
              <a:lnSpc>
                <a:spcPts val="2573"/>
              </a:lnSpc>
              <a:buFont typeface="Arial"/>
              <a:buChar char="•"/>
            </a:pPr>
            <a:endParaRPr lang="pt-BR" sz="2400" dirty="0" smtClean="0">
              <a:solidFill>
                <a:srgbClr val="444444"/>
              </a:solidFill>
              <a:latin typeface="Arial"/>
              <a:ea typeface="Arial"/>
              <a:cs typeface="Arial"/>
              <a:sym typeface="Arial"/>
            </a:endParaRPr>
          </a:p>
          <a:p>
            <a:pPr marL="357223" lvl="1" indent="-178611" algn="l">
              <a:lnSpc>
                <a:spcPts val="2573"/>
              </a:lnSpc>
              <a:buFont typeface="Arial"/>
              <a:buChar char="•"/>
            </a:pPr>
            <a:r>
              <a:rPr lang="pt-BR" sz="2400" dirty="0" err="1" smtClean="0">
                <a:solidFill>
                  <a:srgbClr val="444444"/>
                </a:solidFill>
                <a:latin typeface="Arial"/>
                <a:ea typeface="Arial"/>
                <a:cs typeface="Arial"/>
                <a:sym typeface="Arial"/>
              </a:rPr>
              <a:t>We</a:t>
            </a:r>
            <a:r>
              <a:rPr lang="pt-BR" sz="2400" dirty="0" smtClean="0">
                <a:solidFill>
                  <a:srgbClr val="444444"/>
                </a:solidFill>
                <a:latin typeface="Arial"/>
                <a:ea typeface="Arial"/>
                <a:cs typeface="Arial"/>
                <a:sym typeface="Arial"/>
              </a:rPr>
              <a:t xml:space="preserve"> must </a:t>
            </a:r>
            <a:r>
              <a:rPr lang="pt-BR" sz="2400" dirty="0" err="1" smtClean="0">
                <a:solidFill>
                  <a:srgbClr val="444444"/>
                </a:solidFill>
                <a:latin typeface="Arial"/>
                <a:ea typeface="Arial"/>
                <a:cs typeface="Arial"/>
                <a:sym typeface="Arial"/>
              </a:rPr>
              <a:t>understand</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how</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biases</a:t>
            </a:r>
            <a:r>
              <a:rPr lang="pt-BR" sz="2400" dirty="0" smtClean="0">
                <a:solidFill>
                  <a:srgbClr val="444444"/>
                </a:solidFill>
                <a:latin typeface="Arial"/>
                <a:ea typeface="Arial"/>
                <a:cs typeface="Arial"/>
                <a:sym typeface="Arial"/>
              </a:rPr>
              <a:t xml:space="preserve"> present </a:t>
            </a:r>
            <a:r>
              <a:rPr lang="pt-BR" sz="2400" dirty="0" err="1" smtClean="0">
                <a:solidFill>
                  <a:srgbClr val="444444"/>
                </a:solidFill>
                <a:latin typeface="Arial"/>
                <a:ea typeface="Arial"/>
                <a:cs typeface="Arial"/>
                <a:sym typeface="Arial"/>
              </a:rPr>
              <a:t>themselves</a:t>
            </a:r>
            <a:r>
              <a:rPr lang="pt-BR" sz="2400" dirty="0" smtClean="0">
                <a:solidFill>
                  <a:srgbClr val="444444"/>
                </a:solidFill>
                <a:latin typeface="Arial"/>
                <a:ea typeface="Arial"/>
                <a:cs typeface="Arial"/>
                <a:sym typeface="Arial"/>
              </a:rPr>
              <a:t xml:space="preserve"> in </a:t>
            </a:r>
            <a:r>
              <a:rPr lang="pt-BR" sz="2400" dirty="0" err="1" smtClean="0">
                <a:solidFill>
                  <a:srgbClr val="444444"/>
                </a:solidFill>
                <a:latin typeface="Arial"/>
                <a:ea typeface="Arial"/>
                <a:cs typeface="Arial"/>
                <a:sym typeface="Arial"/>
              </a:rPr>
              <a:t>different</a:t>
            </a:r>
            <a:r>
              <a:rPr lang="pt-BR" sz="2400" dirty="0" smtClean="0">
                <a:solidFill>
                  <a:srgbClr val="444444"/>
                </a:solidFill>
                <a:latin typeface="Arial"/>
                <a:ea typeface="Arial"/>
                <a:cs typeface="Arial"/>
                <a:sym typeface="Arial"/>
              </a:rPr>
              <a:t xml:space="preserve"> </a:t>
            </a:r>
            <a:r>
              <a:rPr lang="pt-BR" sz="2400" dirty="0" err="1" smtClean="0">
                <a:solidFill>
                  <a:srgbClr val="444444"/>
                </a:solidFill>
                <a:latin typeface="Arial"/>
                <a:ea typeface="Arial"/>
                <a:cs typeface="Arial"/>
                <a:sym typeface="Arial"/>
              </a:rPr>
              <a:t>context</a:t>
            </a:r>
            <a:endParaRPr lang="en-US" sz="2400" dirty="0">
              <a:solidFill>
                <a:srgbClr val="444444"/>
              </a:solidFill>
              <a:latin typeface="Arial"/>
              <a:ea typeface="Arial"/>
              <a:cs typeface="Arial"/>
              <a:sym typeface="Arial"/>
            </a:endParaRPr>
          </a:p>
        </p:txBody>
      </p:sp>
    </p:spTree>
    <p:extLst>
      <p:ext uri="{BB962C8B-B14F-4D97-AF65-F5344CB8AC3E}">
        <p14:creationId xmlns:p14="http://schemas.microsoft.com/office/powerpoint/2010/main" val="17358951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386" y="0"/>
            <a:ext cx="9782400" cy="7315200"/>
          </a:xfrm>
          <a:custGeom>
            <a:avLst/>
            <a:gdLst/>
            <a:ahLst/>
            <a:cxnLst/>
            <a:rect l="l" t="t" r="r" b="b"/>
            <a:pathLst>
              <a:path w="9782400" h="7315200">
                <a:moveTo>
                  <a:pt x="0" y="0"/>
                </a:moveTo>
                <a:lnTo>
                  <a:pt x="9782400" y="0"/>
                </a:lnTo>
                <a:lnTo>
                  <a:pt x="9782400" y="7315200"/>
                </a:lnTo>
                <a:lnTo>
                  <a:pt x="0" y="7315200"/>
                </a:lnTo>
                <a:lnTo>
                  <a:pt x="0" y="0"/>
                </a:lnTo>
                <a:close/>
              </a:path>
            </a:pathLst>
          </a:custGeom>
          <a:blipFill>
            <a:blip r:embed="rId2"/>
            <a:stretch>
              <a:fillRect/>
            </a:stretch>
          </a:blipFill>
        </p:spPr>
        <p:txBody>
          <a:bodyPr/>
          <a:lstStyle/>
          <a:p>
            <a:endParaRPr/>
          </a:p>
        </p:txBody>
      </p:sp>
      <p:sp>
        <p:nvSpPr>
          <p:cNvPr id="3" name="Title"/>
          <p:cNvSpPr txBox="1"/>
          <p:nvPr/>
        </p:nvSpPr>
        <p:spPr>
          <a:xfrm>
            <a:off x="850760" y="400000"/>
            <a:ext cx="7500000" cy="500000"/>
          </a:xfrm>
          <a:prstGeom prst="rect">
            <a:avLst/>
          </a:prstGeom>
        </p:spPr>
        <p:txBody>
          <a:bodyPr lIns="0" tIns="0" rIns="0" bIns="0" rtlCol="0" anchor="t">
            <a:spAutoFit/>
          </a:bodyPr>
          <a:lstStyle/>
          <a:p>
            <a:pPr algn="l">
              <a:lnSpc>
                <a:spcPts val="3200"/>
              </a:lnSpc>
            </a:pPr>
            <a:r>
              <a:rPr lang="en-US" sz="2800" b="1">
                <a:solidFill>
                  <a:srgbClr val="2C3E50"/>
                </a:solidFill>
                <a:latin typeface="Arial Bold"/>
                <a:cs typeface="Arial Bold"/>
              </a:rPr>
              <a:t>About the Authors</a:t>
            </a:r>
          </a:p>
        </p:txBody>
      </p:sp>
      <p:sp>
        <p:nvSpPr>
          <p:cNvPr id="4" name="Presenter"/>
          <p:cNvSpPr txBox="1"/>
          <p:nvPr/>
        </p:nvSpPr>
        <p:spPr>
          <a:xfrm>
            <a:off x="850760" y="1200000"/>
            <a:ext cx="8200000" cy="2400000"/>
          </a:xfrm>
          <a:prstGeom prst="rect">
            <a:avLst/>
          </a:prstGeom>
        </p:spPr>
        <p:txBody>
          <a:bodyPr wrap="square" lIns="0" tIns="0" rIns="0" bIns="0" rtlCol="0" anchor="t">
            <a:spAutoFit/>
          </a:bodyPr>
          <a:lstStyle/>
          <a:p>
            <a:pPr algn="l">
              <a:lnSpc>
                <a:spcPts val="2800"/>
              </a:lnSpc>
            </a:pPr>
            <a:r>
              <a:rPr lang="en-US" sz="2200" b="1">
                <a:solidFill>
                  <a:srgbClr val="2C3E50"/>
                </a:solidFill>
                <a:latin typeface="Arial Bold"/>
                <a:cs typeface="Arial Bold"/>
              </a:rPr>
              <a:t xml:space="preserve">Presenter: </a:t>
            </a:r>
            <a:r>
              <a:rPr lang="en-US" sz="2200">
                <a:solidFill>
                  <a:srgbClr val="2C3E50"/>
                </a:solidFill>
                <a:latin typeface="Arial"/>
                <a:cs typeface="Arial"/>
              </a:rPr>
              <a:t>Otávio Oliveira Bopp</a:t>
            </a:r>
          </a:p>
          <a:p>
            <a:pPr algn="l">
              <a:lnSpc>
                <a:spcPts val="2400"/>
              </a:lnSpc>
            </a:pPr>
            <a:r>
              <a:rPr lang="en-US" sz="1800">
                <a:solidFill>
                  <a:srgbClr val="444444"/>
                </a:solidFill>
                <a:latin typeface="Arial"/>
                <a:cs typeface="Arial"/>
              </a:rPr>
              <a:t>Economist, FGV EPGE (Class of 2025)</a:t>
            </a:r>
          </a:p>
          <a:p>
            <a:pPr algn="l">
              <a:lnSpc>
                <a:spcPts val="2400"/>
              </a:lnSpc>
            </a:pPr>
            <a:r>
              <a:rPr lang="en-US" sz="1800">
                <a:solidFill>
                  <a:srgbClr val="444444"/>
                </a:solidFill>
                <a:latin typeface="Arial"/>
                <a:cs typeface="Arial"/>
              </a:rPr>
              <a:t>otaviobopp@gmail.com</a:t>
            </a:r>
          </a:p>
        </p:txBody>
      </p:sp>
      <p:sp>
        <p:nvSpPr>
          <p:cNvPr id="5" name="Advisor"/>
          <p:cNvSpPr txBox="1"/>
          <p:nvPr/>
        </p:nvSpPr>
        <p:spPr>
          <a:xfrm>
            <a:off x="850760" y="3500000"/>
            <a:ext cx="8200000" cy="3200000"/>
          </a:xfrm>
          <a:prstGeom prst="rect">
            <a:avLst/>
          </a:prstGeom>
        </p:spPr>
        <p:txBody>
          <a:bodyPr wrap="square" lIns="0" tIns="0" rIns="0" bIns="0" rtlCol="0" anchor="t">
            <a:spAutoFit/>
          </a:bodyPr>
          <a:lstStyle/>
          <a:p>
            <a:pPr algn="l">
              <a:lnSpc>
                <a:spcPts val="2800"/>
              </a:lnSpc>
            </a:pPr>
            <a:r>
              <a:rPr lang="en-US" sz="2200" b="1">
                <a:solidFill>
                  <a:srgbClr val="2C3E50"/>
                </a:solidFill>
                <a:latin typeface="Arial Bold"/>
                <a:cs typeface="Arial Bold"/>
              </a:rPr>
              <a:t xml:space="preserve">Advisor: </a:t>
            </a:r>
            <a:r>
              <a:rPr lang="en-US" sz="2200">
                <a:solidFill>
                  <a:srgbClr val="2C3E50"/>
                </a:solidFill>
                <a:latin typeface="Arial"/>
                <a:cs typeface="Arial"/>
              </a:rPr>
              <a:t>Prof. Valdemar Rodrigues de Pinho Neto</a:t>
            </a:r>
          </a:p>
          <a:p>
            <a:pPr algn="l">
              <a:lnSpc>
                <a:spcPts val="2400"/>
              </a:lnSpc>
            </a:pPr>
            <a:r>
              <a:rPr lang="en-US" sz="1800">
                <a:solidFill>
                  <a:srgbClr val="444444"/>
                </a:solidFill>
                <a:latin typeface="Arial"/>
                <a:cs typeface="Arial"/>
              </a:rPr>
              <a:t>Professor, FGV EPGE | Coordinator, Undergraduate Program in Economics</a:t>
            </a:r>
          </a:p>
          <a:p>
            <a:pPr algn="l">
              <a:lnSpc>
                <a:spcPts val="2400"/>
              </a:lnSpc>
            </a:pPr>
            <a:r>
              <a:rPr lang="en-US" sz="1800">
                <a:solidFill>
                  <a:srgbClr val="444444"/>
                </a:solidFill>
                <a:latin typeface="Arial"/>
                <a:cs typeface="Arial"/>
              </a:rPr>
              <a:t>Head, Center for Empirical Studies in Economics (FGV CESE)</a:t>
            </a:r>
          </a:p>
          <a:p>
            <a:pPr algn="l">
              <a:lnSpc>
                <a:spcPts val="2400"/>
              </a:lnSpc>
            </a:pPr>
            <a:r>
              <a:rPr lang="en-US" sz="1800">
                <a:solidFill>
                  <a:srgbClr val="444444"/>
                </a:solidFill>
                <a:latin typeface="Arial"/>
                <a:cs typeface="Arial"/>
              </a:rPr>
              <a:t>Ph.D. in Economics, FGV EPGE (2018) | Princeton (2016–17) | U. of Chicago Booth (2018–20)</a:t>
            </a:r>
          </a:p>
          <a:p>
            <a:pPr algn="l">
              <a:lnSpc>
                <a:spcPts val="2400"/>
              </a:lnSpc>
            </a:pPr>
            <a:r>
              <a:rPr lang="en-US" sz="1800">
                <a:solidFill>
                  <a:srgbClr val="444444"/>
                </a:solidFill>
                <a:latin typeface="Arial"/>
                <a:cs typeface="Arial"/>
              </a:rPr>
              <a:t>FAPERJ “Jovem Cientista do Nosso Estado” Fellow (2024–2027)</a:t>
            </a:r>
          </a:p>
          <a:p>
            <a:pPr algn="l">
              <a:lnSpc>
                <a:spcPts val="2400"/>
              </a:lnSpc>
            </a:pPr>
            <a:r>
              <a:rPr lang="en-US" sz="1800">
                <a:solidFill>
                  <a:srgbClr val="444444"/>
                </a:solidFill>
                <a:latin typeface="Arial"/>
                <a:cs typeface="Arial"/>
              </a:rPr>
              <a:t>Research: Applied Microeconometrics, Political Economy, Labor Economics</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0760" y="400000"/>
            <a:ext cx="7500000" cy="500000"/>
          </a:xfrm>
          <a:prstGeom prst="rect">
            <a:avLst/>
          </a:prstGeom>
        </p:spPr>
        <p:txBody>
          <a:bodyPr lIns="0" tIns="0" rIns="0" bIns="0" rtlCol="0" anchor="t">
            <a:spAutoFit/>
          </a:bodyPr>
          <a:lstStyle/>
          <a:p>
            <a:pPr algn="l">
              <a:lnSpc>
                <a:spcPts val="3200"/>
              </a:lnSpc>
            </a:pPr>
            <a:r>
              <a:rPr lang="en-US" sz="2800" b="1">
                <a:solidFill>
                  <a:srgbClr val="2C3E50"/>
                </a:solidFill>
                <a:latin typeface="Arial Bold"/>
                <a:cs typeface="Arial Bold"/>
              </a:rPr>
              <a:t>Research Trajectory</a:t>
            </a:r>
          </a:p>
        </p:txBody>
      </p:sp>
      <p:sp>
        <p:nvSpPr>
          <p:cNvPr id="3" name="Content"/>
          <p:cNvSpPr txBox="1"/>
          <p:nvPr/>
        </p:nvSpPr>
        <p:spPr>
          <a:xfrm>
            <a:off x="850760" y="1100000"/>
            <a:ext cx="5200000" cy="5400000"/>
          </a:xfrm>
          <a:prstGeom prst="rect">
            <a:avLst/>
          </a:prstGeom>
        </p:spPr>
        <p:txBody>
          <a:bodyPr wrap="square" lIns="0" tIns="0" rIns="0" bIns="0" rtlCol="0" anchor="t">
            <a:spAutoFit/>
          </a:bodyPr>
          <a:lstStyle/>
          <a:p>
            <a:pPr algn="l">
              <a:lnSpc>
                <a:spcPts val="2600"/>
              </a:lnSpc>
            </a:pPr>
            <a:r>
              <a:rPr lang="en-US" sz="2000" b="1">
                <a:solidFill>
                  <a:srgbClr val="2C3E50"/>
                </a:solidFill>
                <a:latin typeface="Arial Bold"/>
                <a:cs typeface="Arial Bold"/>
              </a:rPr>
              <a:t>1. PIBIC Fellowship (2023–2024)</a:t>
            </a:r>
          </a:p>
          <a:p>
            <a:pPr marL="204381" algn="l">
              <a:lnSpc>
                <a:spcPts val="2200"/>
              </a:lnSpc>
            </a:pPr>
            <a:r>
              <a:rPr lang="en-US" sz="1600">
                <a:solidFill>
                  <a:srgbClr val="444444"/>
                </a:solidFill>
                <a:latin typeface="Arial"/>
                <a:cs typeface="Arial"/>
              </a:rPr>
              <a:t>Undergraduate research initiative (CNPq/FGV) on gender bias in LLMs, supervised by Prof. Pinho Neto. Expanding on Motoki, Rodrigues &amp; Neto (2023), “More Human Than Human”, published in Public Choice.</a:t>
            </a:r>
          </a:p>
          <a:p>
            <a:pPr algn="l">
              <a:lnSpc>
                <a:spcPts val="2200"/>
              </a:lnSpc>
            </a:pPr>
            <a:endParaRPr lang="en-US" sz="1000">
              <a:solidFill>
                <a:srgbClr val="444444"/>
              </a:solidFill>
              <a:latin typeface="Arial"/>
            </a:endParaRPr>
          </a:p>
          <a:p>
            <a:pPr algn="l">
              <a:lnSpc>
                <a:spcPts val="2600"/>
              </a:lnSpc>
            </a:pPr>
            <a:r>
              <a:rPr lang="en-US" sz="2000" b="1">
                <a:solidFill>
                  <a:srgbClr val="2C3E50"/>
                </a:solidFill>
                <a:latin typeface="Arial Bold"/>
                <a:cs typeface="Arial Bold"/>
              </a:rPr>
              <a:t>2. Bachelor’s Thesis (FGV EPGE, 2025)</a:t>
            </a:r>
          </a:p>
          <a:p>
            <a:pPr marL="204381" algn="l">
              <a:lnSpc>
                <a:spcPts val="2200"/>
              </a:lnSpc>
            </a:pPr>
            <a:r>
              <a:rPr lang="en-US" sz="1600">
                <a:solidFill>
                  <a:srgbClr val="444444"/>
                </a:solidFill>
                <a:latin typeface="Arial"/>
                <a:cs typeface="Arial"/>
              </a:rPr>
              <a:t>Extended the PIBIC study to 14 GPT models (GPT-3.5 through GPT-5 families), with cross-linguistic tests in English and Portuguese. OLS regression measuring gender bias evolution across model generations.</a:t>
            </a:r>
          </a:p>
          <a:p>
            <a:pPr algn="l">
              <a:lnSpc>
                <a:spcPts val="2200"/>
              </a:lnSpc>
            </a:pPr>
            <a:endParaRPr lang="en-US" sz="1000">
              <a:solidFill>
                <a:srgbClr val="444444"/>
              </a:solidFill>
              <a:latin typeface="Arial"/>
            </a:endParaRPr>
          </a:p>
          <a:p>
            <a:pPr algn="l">
              <a:lnSpc>
                <a:spcPts val="2600"/>
              </a:lnSpc>
            </a:pPr>
            <a:r>
              <a:rPr lang="en-US" sz="2000" b="1">
                <a:solidFill>
                  <a:srgbClr val="2C3E50"/>
                </a:solidFill>
                <a:latin typeface="Arial Bold"/>
                <a:cs typeface="Arial Bold"/>
              </a:rPr>
              <a:t>3. Working Paper (in progress)</a:t>
            </a:r>
          </a:p>
          <a:p>
            <a:pPr marL="204381" algn="l">
              <a:lnSpc>
                <a:spcPts val="2200"/>
              </a:lnSpc>
            </a:pPr>
            <a:r>
              <a:rPr lang="en-US" sz="1600">
                <a:solidFill>
                  <a:srgbClr val="444444"/>
                </a:solidFill>
                <a:latin typeface="Arial"/>
                <a:cs typeface="Arial"/>
              </a:rPr>
              <a:t>Full paper adapting the thesis for academic publication. Code and data available in the repositories (see QR codes).</a:t>
            </a:r>
          </a:p>
        </p:txBody>
      </p:sp>
      <p:sp>
        <p:nvSpPr>
          <p:cNvPr id="6" name="QR1"/>
          <p:cNvSpPr/>
          <p:nvPr/>
        </p:nvSpPr>
        <p:spPr>
          <a:xfrm>
            <a:off x="6400000" y="1100000"/>
            <a:ext cx="2200000" cy="2200000"/>
          </a:xfrm>
          <a:prstGeom prst="rect">
            <a:avLst/>
          </a:prstGeom>
          <a:blipFill>
            <a:blip r:embed="rId2"/>
            <a:stretch>
              <a:fillRect/>
            </a:stretch>
          </a:blipFill>
        </p:spPr>
        <p:txBody>
          <a:bodyPr/>
          <a:lstStyle/>
          <a:p>
            <a:endParaRPr/>
          </a:p>
        </p:txBody>
      </p:sp>
      <p:sp>
        <p:nvSpPr>
          <p:cNvPr id="7" name="QR1Label"/>
          <p:cNvSpPr txBox="1"/>
          <p:nvPr/>
        </p:nvSpPr>
        <p:spPr>
          <a:xfrm>
            <a:off x="6400000" y="3350000"/>
            <a:ext cx="2200000" cy="400000"/>
          </a:xfrm>
          <a:prstGeom prst="rect">
            <a:avLst/>
          </a:prstGeom>
        </p:spPr>
        <p:txBody>
          <a:bodyPr lIns="0" tIns="0" rIns="0" bIns="0" rtlCol="0" anchor="t">
            <a:spAutoFit/>
          </a:bodyPr>
          <a:lstStyle/>
          <a:p>
            <a:pPr algn="ctr">
              <a:lnSpc>
                <a:spcPts val="1600"/>
              </a:lnSpc>
            </a:pPr>
            <a:r>
              <a:rPr lang="en-US" sz="1200" b="1">
                <a:solidFill>
                  <a:srgbClr val="2C3E50"/>
                </a:solidFill>
                <a:latin typeface="Arial"/>
                <a:cs typeface="Arial"/>
              </a:rPr>
              <a:t>PIBIC Report</a:t>
            </a:r>
          </a:p>
        </p:txBody>
      </p:sp>
      <p:sp>
        <p:nvSpPr>
          <p:cNvPr id="8" name="QR2"/>
          <p:cNvSpPr/>
          <p:nvPr/>
        </p:nvSpPr>
        <p:spPr>
          <a:xfrm>
            <a:off x="6400000" y="3900000"/>
            <a:ext cx="2200000" cy="2200000"/>
          </a:xfrm>
          <a:prstGeom prst="rect">
            <a:avLst/>
          </a:prstGeom>
          <a:blipFill>
            <a:blip r:embed="rId3"/>
            <a:stretch>
              <a:fillRect/>
            </a:stretch>
          </a:blipFill>
        </p:spPr>
        <p:txBody>
          <a:bodyPr/>
          <a:lstStyle/>
          <a:p>
            <a:endParaRPr/>
          </a:p>
        </p:txBody>
      </p:sp>
      <p:sp>
        <p:nvSpPr>
          <p:cNvPr id="9" name="QR2Label"/>
          <p:cNvSpPr txBox="1"/>
          <p:nvPr/>
        </p:nvSpPr>
        <p:spPr>
          <a:xfrm>
            <a:off x="6400000" y="6150000"/>
            <a:ext cx="2200000" cy="400000"/>
          </a:xfrm>
          <a:prstGeom prst="rect">
            <a:avLst/>
          </a:prstGeom>
        </p:spPr>
        <p:txBody>
          <a:bodyPr lIns="0" tIns="0" rIns="0" bIns="0" rtlCol="0" anchor="t">
            <a:spAutoFit/>
          </a:bodyPr>
          <a:lstStyle/>
          <a:p>
            <a:pPr algn="ctr">
              <a:lnSpc>
                <a:spcPts val="1600"/>
              </a:lnSpc>
            </a:pPr>
            <a:r>
              <a:rPr lang="en-US" sz="1200" b="1">
                <a:solidFill>
                  <a:srgbClr val="2C3E50"/>
                </a:solidFill>
                <a:latin typeface="Arial"/>
                <a:cs typeface="Arial"/>
              </a:rPr>
              <a:t>Working Paper</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1747</Words>
  <Application>Microsoft Office PowerPoint</Application>
  <PresentationFormat>Personalizar</PresentationFormat>
  <Paragraphs>134</Paragraphs>
  <Slides>26</Slides>
  <Notes>1</Notes>
  <HiddenSlides>0</HiddenSlides>
  <MMClips>0</MMClips>
  <ScaleCrop>false</ScaleCrop>
  <HeadingPairs>
    <vt:vector size="8" baseType="variant">
      <vt:variant>
        <vt:lpstr>Fontes usadas</vt:lpstr>
      </vt:variant>
      <vt:variant>
        <vt:i4>6</vt:i4>
      </vt:variant>
      <vt:variant>
        <vt:lpstr>Tema</vt:lpstr>
      </vt:variant>
      <vt:variant>
        <vt:i4>1</vt:i4>
      </vt:variant>
      <vt:variant>
        <vt:lpstr>Servidores OLE inseridos</vt:lpstr>
      </vt:variant>
      <vt:variant>
        <vt:i4>1</vt:i4>
      </vt:variant>
      <vt:variant>
        <vt:lpstr>Títulos de slides</vt:lpstr>
      </vt:variant>
      <vt:variant>
        <vt:i4>26</vt:i4>
      </vt:variant>
    </vt:vector>
  </HeadingPairs>
  <TitlesOfParts>
    <vt:vector size="34" baseType="lpstr">
      <vt:lpstr>Arial Bold</vt:lpstr>
      <vt:lpstr>Arial</vt:lpstr>
      <vt:lpstr>TT Rounds Condensed</vt:lpstr>
      <vt:lpstr>Arial Italics</vt:lpstr>
      <vt:lpstr>Calibri</vt:lpstr>
      <vt:lpstr>TT Rounds Condensed Bold</vt:lpstr>
      <vt:lpstr>Office Theme</vt:lpstr>
      <vt:lpstr>Worksheet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PIBIC.ppt</dc:title>
  <cp:lastModifiedBy>Lenovo</cp:lastModifiedBy>
  <cp:revision>8</cp:revision>
  <dcterms:created xsi:type="dcterms:W3CDTF">2006-08-16T00:00:00Z</dcterms:created>
  <dcterms:modified xsi:type="dcterms:W3CDTF">2026-03-26T19:46:48Z</dcterms:modified>
  <dc:identifier>DAGTlhjmdeU</dc:identifier>
</cp:coreProperties>
</file>